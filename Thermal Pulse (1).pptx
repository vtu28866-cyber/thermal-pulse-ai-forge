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C376D9-3FEC-4639-AC69-58951E90B664}" v="29" dt="2026-10-09T06:27:43.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5" d="100"/>
          <a:sy n="95" d="100"/>
        </p:scale>
        <p:origin x="264" y="72"/>
      </p:cViewPr>
      <p:guideLst>
        <p:guide orient="horz" pos="2137"/>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NI CHETTY" userId="b3c52a8b8ace440d" providerId="LiveId" clId="{A74DBB71-4BFA-42D6-ADB7-B0F2DC624C49}"/>
    <pc:docChg chg="modSld modMainMaster">
      <pc:chgData name="TEJANI CHETTY" userId="b3c52a8b8ace440d" providerId="LiveId" clId="{A74DBB71-4BFA-42D6-ADB7-B0F2DC624C49}" dt="2026-10-09T06:27:43.528" v="28"/>
      <pc:docMkLst>
        <pc:docMk/>
      </pc:docMkLst>
      <pc:sldChg chg="modSp">
        <pc:chgData name="TEJANI CHETTY" userId="b3c52a8b8ace440d" providerId="LiveId" clId="{A74DBB71-4BFA-42D6-ADB7-B0F2DC624C49}" dt="2026-10-09T06:27:23.622" v="21"/>
        <pc:sldMkLst>
          <pc:docMk/>
          <pc:sldMk cId="0" sldId="256"/>
        </pc:sldMkLst>
        <pc:spChg chg="mod">
          <ac:chgData name="TEJANI CHETTY" userId="b3c52a8b8ace440d" providerId="LiveId" clId="{A74DBB71-4BFA-42D6-ADB7-B0F2DC624C49}" dt="2026-10-09T06:27:23.622" v="21"/>
          <ac:spMkLst>
            <pc:docMk/>
            <pc:sldMk cId="0" sldId="256"/>
            <ac:spMk id="2" creationId="{00000000-0000-0000-0000-000000000000}"/>
          </ac:spMkLst>
        </pc:spChg>
      </pc:sldChg>
      <pc:sldChg chg="modSp">
        <pc:chgData name="TEJANI CHETTY" userId="b3c52a8b8ace440d" providerId="LiveId" clId="{A74DBB71-4BFA-42D6-ADB7-B0F2DC624C49}" dt="2026-10-09T06:27:33.888" v="27"/>
        <pc:sldMkLst>
          <pc:docMk/>
          <pc:sldMk cId="0" sldId="257"/>
        </pc:sldMkLst>
        <pc:spChg chg="mod">
          <ac:chgData name="TEJANI CHETTY" userId="b3c52a8b8ace440d" providerId="LiveId" clId="{A74DBB71-4BFA-42D6-ADB7-B0F2DC624C49}" dt="2026-10-09T06:27:27.376" v="23"/>
          <ac:spMkLst>
            <pc:docMk/>
            <pc:sldMk cId="0" sldId="257"/>
            <ac:spMk id="2" creationId="{00000000-0000-0000-0000-000000000000}"/>
          </ac:spMkLst>
        </pc:spChg>
        <pc:spChg chg="mod">
          <ac:chgData name="TEJANI CHETTY" userId="b3c52a8b8ace440d" providerId="LiveId" clId="{A74DBB71-4BFA-42D6-ADB7-B0F2DC624C49}" dt="2026-10-09T06:27:33.888" v="27"/>
          <ac:spMkLst>
            <pc:docMk/>
            <pc:sldMk cId="0" sldId="257"/>
            <ac:spMk id="3" creationId="{00000000-0000-0000-0000-000000000000}"/>
          </ac:spMkLst>
        </pc:spChg>
      </pc:sldChg>
      <pc:sldChg chg="modSp">
        <pc:chgData name="TEJANI CHETTY" userId="b3c52a8b8ace440d" providerId="LiveId" clId="{A74DBB71-4BFA-42D6-ADB7-B0F2DC624C49}" dt="2026-10-09T06:27:43.528" v="28"/>
        <pc:sldMkLst>
          <pc:docMk/>
          <pc:sldMk cId="0" sldId="258"/>
        </pc:sldMkLst>
        <pc:spChg chg="mod">
          <ac:chgData name="TEJANI CHETTY" userId="b3c52a8b8ace440d" providerId="LiveId" clId="{A74DBB71-4BFA-42D6-ADB7-B0F2DC624C49}" dt="2026-10-09T06:27:43.528" v="28"/>
          <ac:spMkLst>
            <pc:docMk/>
            <pc:sldMk cId="0" sldId="258"/>
            <ac:spMk id="2" creationId="{00000000-0000-0000-0000-000000000000}"/>
          </ac:spMkLst>
        </pc:spChg>
        <pc:spChg chg="mod">
          <ac:chgData name="TEJANI CHETTY" userId="b3c52a8b8ace440d" providerId="LiveId" clId="{A74DBB71-4BFA-42D6-ADB7-B0F2DC624C49}" dt="2026-10-09T06:27:33.888" v="27"/>
          <ac:spMkLst>
            <pc:docMk/>
            <pc:sldMk cId="0" sldId="258"/>
            <ac:spMk id="3" creationId="{00000000-0000-0000-0000-000000000000}"/>
          </ac:spMkLst>
        </pc:spChg>
      </pc:sldChg>
      <pc:sldChg chg="modSp">
        <pc:chgData name="TEJANI CHETTY" userId="b3c52a8b8ace440d" providerId="LiveId" clId="{A74DBB71-4BFA-42D6-ADB7-B0F2DC624C49}" dt="2026-10-09T06:27:43.528" v="28"/>
        <pc:sldMkLst>
          <pc:docMk/>
          <pc:sldMk cId="0" sldId="259"/>
        </pc:sldMkLst>
        <pc:spChg chg="mod">
          <ac:chgData name="TEJANI CHETTY" userId="b3c52a8b8ace440d" providerId="LiveId" clId="{A74DBB71-4BFA-42D6-ADB7-B0F2DC624C49}" dt="2026-10-09T06:27:27.376" v="23"/>
          <ac:spMkLst>
            <pc:docMk/>
            <pc:sldMk cId="0" sldId="259"/>
            <ac:spMk id="2" creationId="{00000000-0000-0000-0000-000000000000}"/>
          </ac:spMkLst>
        </pc:spChg>
        <pc:spChg chg="mod">
          <ac:chgData name="TEJANI CHETTY" userId="b3c52a8b8ace440d" providerId="LiveId" clId="{A74DBB71-4BFA-42D6-ADB7-B0F2DC624C49}" dt="2026-10-09T06:27:43.528" v="28"/>
          <ac:spMkLst>
            <pc:docMk/>
            <pc:sldMk cId="0" sldId="259"/>
            <ac:spMk id="3" creationId="{00000000-0000-0000-0000-000000000000}"/>
          </ac:spMkLst>
        </pc:spChg>
      </pc:sldChg>
      <pc:sldChg chg="modSp">
        <pc:chgData name="TEJANI CHETTY" userId="b3c52a8b8ace440d" providerId="LiveId" clId="{A74DBB71-4BFA-42D6-ADB7-B0F2DC624C49}" dt="2026-10-09T06:27:33.888" v="27"/>
        <pc:sldMkLst>
          <pc:docMk/>
          <pc:sldMk cId="0" sldId="260"/>
        </pc:sldMkLst>
        <pc:spChg chg="mod">
          <ac:chgData name="TEJANI CHETTY" userId="b3c52a8b8ace440d" providerId="LiveId" clId="{A74DBB71-4BFA-42D6-ADB7-B0F2DC624C49}" dt="2026-10-09T06:27:27.376" v="23"/>
          <ac:spMkLst>
            <pc:docMk/>
            <pc:sldMk cId="0" sldId="260"/>
            <ac:spMk id="2" creationId="{00000000-0000-0000-0000-000000000000}"/>
          </ac:spMkLst>
        </pc:spChg>
        <pc:spChg chg="mod">
          <ac:chgData name="TEJANI CHETTY" userId="b3c52a8b8ace440d" providerId="LiveId" clId="{A74DBB71-4BFA-42D6-ADB7-B0F2DC624C49}" dt="2026-10-09T06:27:33.888" v="27"/>
          <ac:spMkLst>
            <pc:docMk/>
            <pc:sldMk cId="0" sldId="260"/>
            <ac:spMk id="3" creationId="{00000000-0000-0000-0000-000000000000}"/>
          </ac:spMkLst>
        </pc:spChg>
      </pc:sldChg>
      <pc:sldChg chg="modSp">
        <pc:chgData name="TEJANI CHETTY" userId="b3c52a8b8ace440d" providerId="LiveId" clId="{A74DBB71-4BFA-42D6-ADB7-B0F2DC624C49}" dt="2026-10-09T06:27:43.528" v="28"/>
        <pc:sldMkLst>
          <pc:docMk/>
          <pc:sldMk cId="0" sldId="261"/>
        </pc:sldMkLst>
        <pc:spChg chg="mod">
          <ac:chgData name="TEJANI CHETTY" userId="b3c52a8b8ace440d" providerId="LiveId" clId="{A74DBB71-4BFA-42D6-ADB7-B0F2DC624C49}" dt="2026-10-09T06:27:43.528" v="28"/>
          <ac:spMkLst>
            <pc:docMk/>
            <pc:sldMk cId="0" sldId="261"/>
            <ac:spMk id="2" creationId="{00000000-0000-0000-0000-000000000000}"/>
          </ac:spMkLst>
        </pc:spChg>
      </pc:sldChg>
      <pc:sldChg chg="modSp">
        <pc:chgData name="TEJANI CHETTY" userId="b3c52a8b8ace440d" providerId="LiveId" clId="{A74DBB71-4BFA-42D6-ADB7-B0F2DC624C49}" dt="2026-10-09T06:27:27.376" v="23"/>
        <pc:sldMkLst>
          <pc:docMk/>
          <pc:sldMk cId="0" sldId="262"/>
        </pc:sldMkLst>
        <pc:spChg chg="mod">
          <ac:chgData name="TEJANI CHETTY" userId="b3c52a8b8ace440d" providerId="LiveId" clId="{A74DBB71-4BFA-42D6-ADB7-B0F2DC624C49}" dt="2026-10-09T06:27:27.376" v="23"/>
          <ac:spMkLst>
            <pc:docMk/>
            <pc:sldMk cId="0" sldId="262"/>
            <ac:spMk id="2" creationId="{00000000-0000-0000-0000-000000000000}"/>
          </ac:spMkLst>
        </pc:spChg>
      </pc:sldChg>
      <pc:sldChg chg="modSp">
        <pc:chgData name="TEJANI CHETTY" userId="b3c52a8b8ace440d" providerId="LiveId" clId="{A74DBB71-4BFA-42D6-ADB7-B0F2DC624C49}" dt="2026-10-09T06:27:27.376" v="23"/>
        <pc:sldMkLst>
          <pc:docMk/>
          <pc:sldMk cId="0" sldId="263"/>
        </pc:sldMkLst>
        <pc:spChg chg="mod">
          <ac:chgData name="TEJANI CHETTY" userId="b3c52a8b8ace440d" providerId="LiveId" clId="{A74DBB71-4BFA-42D6-ADB7-B0F2DC624C49}" dt="2026-10-09T06:27:27.376" v="23"/>
          <ac:spMkLst>
            <pc:docMk/>
            <pc:sldMk cId="0" sldId="263"/>
            <ac:spMk id="2" creationId="{00000000-0000-0000-0000-000000000000}"/>
          </ac:spMkLst>
        </pc:spChg>
        <pc:spChg chg="mod">
          <ac:chgData name="TEJANI CHETTY" userId="b3c52a8b8ace440d" providerId="LiveId" clId="{A74DBB71-4BFA-42D6-ADB7-B0F2DC624C49}" dt="2026-10-09T06:27:13.049" v="14"/>
          <ac:spMkLst>
            <pc:docMk/>
            <pc:sldMk cId="0" sldId="263"/>
            <ac:spMk id="3" creationId="{00000000-0000-0000-0000-000000000000}"/>
          </ac:spMkLst>
        </pc:spChg>
      </pc:sldChg>
      <pc:sldChg chg="modSp">
        <pc:chgData name="TEJANI CHETTY" userId="b3c52a8b8ace440d" providerId="LiveId" clId="{A74DBB71-4BFA-42D6-ADB7-B0F2DC624C49}" dt="2026-10-09T06:27:43.528" v="28"/>
        <pc:sldMkLst>
          <pc:docMk/>
          <pc:sldMk cId="0" sldId="264"/>
        </pc:sldMkLst>
        <pc:spChg chg="mod">
          <ac:chgData name="TEJANI CHETTY" userId="b3c52a8b8ace440d" providerId="LiveId" clId="{A74DBB71-4BFA-42D6-ADB7-B0F2DC624C49}" dt="2026-10-09T06:27:43.528" v="28"/>
          <ac:spMkLst>
            <pc:docMk/>
            <pc:sldMk cId="0" sldId="264"/>
            <ac:spMk id="2" creationId="{00000000-0000-0000-0000-000000000000}"/>
          </ac:spMkLst>
        </pc:spChg>
        <pc:spChg chg="mod">
          <ac:chgData name="TEJANI CHETTY" userId="b3c52a8b8ace440d" providerId="LiveId" clId="{A74DBB71-4BFA-42D6-ADB7-B0F2DC624C49}" dt="2026-10-09T06:27:43.528" v="28"/>
          <ac:spMkLst>
            <pc:docMk/>
            <pc:sldMk cId="0" sldId="264"/>
            <ac:spMk id="3" creationId="{00000000-0000-0000-0000-000000000000}"/>
          </ac:spMkLst>
        </pc:spChg>
      </pc:sldChg>
      <pc:sldChg chg="modSp">
        <pc:chgData name="TEJANI CHETTY" userId="b3c52a8b8ace440d" providerId="LiveId" clId="{A74DBB71-4BFA-42D6-ADB7-B0F2DC624C49}" dt="2026-10-09T06:27:33.888" v="27"/>
        <pc:sldMkLst>
          <pc:docMk/>
          <pc:sldMk cId="0" sldId="265"/>
        </pc:sldMkLst>
        <pc:spChg chg="mod">
          <ac:chgData name="TEJANI CHETTY" userId="b3c52a8b8ace440d" providerId="LiveId" clId="{A74DBB71-4BFA-42D6-ADB7-B0F2DC624C49}" dt="2026-10-09T06:27:27.376" v="23"/>
          <ac:spMkLst>
            <pc:docMk/>
            <pc:sldMk cId="0" sldId="265"/>
            <ac:spMk id="2" creationId="{00000000-0000-0000-0000-000000000000}"/>
          </ac:spMkLst>
        </pc:spChg>
        <pc:spChg chg="mod">
          <ac:chgData name="TEJANI CHETTY" userId="b3c52a8b8ace440d" providerId="LiveId" clId="{A74DBB71-4BFA-42D6-ADB7-B0F2DC624C49}" dt="2026-10-09T06:27:33.888" v="27"/>
          <ac:spMkLst>
            <pc:docMk/>
            <pc:sldMk cId="0" sldId="265"/>
            <ac:spMk id="3" creationId="{00000000-0000-0000-0000-000000000000}"/>
          </ac:spMkLst>
        </pc:spChg>
      </pc:sldChg>
      <pc:sldChg chg="modSp">
        <pc:chgData name="TEJANI CHETTY" userId="b3c52a8b8ace440d" providerId="LiveId" clId="{A74DBB71-4BFA-42D6-ADB7-B0F2DC624C49}" dt="2026-10-09T06:27:43.528" v="28"/>
        <pc:sldMkLst>
          <pc:docMk/>
          <pc:sldMk cId="0" sldId="266"/>
        </pc:sldMkLst>
        <pc:spChg chg="mod">
          <ac:chgData name="TEJANI CHETTY" userId="b3c52a8b8ace440d" providerId="LiveId" clId="{A74DBB71-4BFA-42D6-ADB7-B0F2DC624C49}" dt="2026-10-09T06:27:43.528" v="28"/>
          <ac:spMkLst>
            <pc:docMk/>
            <pc:sldMk cId="0" sldId="266"/>
            <ac:spMk id="2" creationId="{00000000-0000-0000-0000-000000000000}"/>
          </ac:spMkLst>
        </pc:spChg>
        <pc:spChg chg="mod">
          <ac:chgData name="TEJANI CHETTY" userId="b3c52a8b8ace440d" providerId="LiveId" clId="{A74DBB71-4BFA-42D6-ADB7-B0F2DC624C49}" dt="2026-10-09T06:27:43.528" v="28"/>
          <ac:spMkLst>
            <pc:docMk/>
            <pc:sldMk cId="0" sldId="266"/>
            <ac:spMk id="3" creationId="{00000000-0000-0000-0000-000000000000}"/>
          </ac:spMkLst>
        </pc:spChg>
      </pc:sldChg>
      <pc:sldChg chg="modSp">
        <pc:chgData name="TEJANI CHETTY" userId="b3c52a8b8ace440d" providerId="LiveId" clId="{A74DBB71-4BFA-42D6-ADB7-B0F2DC624C49}" dt="2026-10-09T06:27:43.528" v="28"/>
        <pc:sldMkLst>
          <pc:docMk/>
          <pc:sldMk cId="0" sldId="267"/>
        </pc:sldMkLst>
        <pc:spChg chg="mod">
          <ac:chgData name="TEJANI CHETTY" userId="b3c52a8b8ace440d" providerId="LiveId" clId="{A74DBB71-4BFA-42D6-ADB7-B0F2DC624C49}" dt="2026-10-09T06:27:43.528" v="28"/>
          <ac:spMkLst>
            <pc:docMk/>
            <pc:sldMk cId="0" sldId="267"/>
            <ac:spMk id="2" creationId="{00000000-0000-0000-0000-000000000000}"/>
          </ac:spMkLst>
        </pc:spChg>
        <pc:spChg chg="mod">
          <ac:chgData name="TEJANI CHETTY" userId="b3c52a8b8ace440d" providerId="LiveId" clId="{A74DBB71-4BFA-42D6-ADB7-B0F2DC624C49}" dt="2026-10-09T06:27:32.652" v="26"/>
          <ac:spMkLst>
            <pc:docMk/>
            <pc:sldMk cId="0" sldId="267"/>
            <ac:spMk id="3" creationId="{00000000-0000-0000-0000-000000000000}"/>
          </ac:spMkLst>
        </pc:spChg>
      </pc:sldChg>
      <pc:sldChg chg="modSp">
        <pc:chgData name="TEJANI CHETTY" userId="b3c52a8b8ace440d" providerId="LiveId" clId="{A74DBB71-4BFA-42D6-ADB7-B0F2DC624C49}" dt="2026-10-09T06:27:33.888" v="27"/>
        <pc:sldMkLst>
          <pc:docMk/>
          <pc:sldMk cId="0" sldId="268"/>
        </pc:sldMkLst>
        <pc:spChg chg="mod">
          <ac:chgData name="TEJANI CHETTY" userId="b3c52a8b8ace440d" providerId="LiveId" clId="{A74DBB71-4BFA-42D6-ADB7-B0F2DC624C49}" dt="2026-10-09T06:27:27.376" v="23"/>
          <ac:spMkLst>
            <pc:docMk/>
            <pc:sldMk cId="0" sldId="268"/>
            <ac:spMk id="2" creationId="{00000000-0000-0000-0000-000000000000}"/>
          </ac:spMkLst>
        </pc:spChg>
        <pc:spChg chg="mod">
          <ac:chgData name="TEJANI CHETTY" userId="b3c52a8b8ace440d" providerId="LiveId" clId="{A74DBB71-4BFA-42D6-ADB7-B0F2DC624C49}" dt="2026-10-09T06:27:33.888" v="27"/>
          <ac:spMkLst>
            <pc:docMk/>
            <pc:sldMk cId="0" sldId="268"/>
            <ac:spMk id="3" creationId="{00000000-0000-0000-0000-000000000000}"/>
          </ac:spMkLst>
        </pc:spChg>
      </pc:sldChg>
      <pc:sldMasterChg chg="modSldLayout">
        <pc:chgData name="TEJANI CHETTY" userId="b3c52a8b8ace440d" providerId="LiveId" clId="{A74DBB71-4BFA-42D6-ADB7-B0F2DC624C49}" dt="2026-10-09T06:27:13.049" v="14"/>
        <pc:sldMasterMkLst>
          <pc:docMk/>
          <pc:sldMasterMk cId="4050988964" sldId="2147483888"/>
        </pc:sldMasterMkLst>
        <pc:sldLayoutChg chg="addSp delSp">
          <pc:chgData name="TEJANI CHETTY" userId="b3c52a8b8ace440d" providerId="LiveId" clId="{A74DBB71-4BFA-42D6-ADB7-B0F2DC624C49}" dt="2026-10-09T06:27:13.049" v="14"/>
          <pc:sldLayoutMkLst>
            <pc:docMk/>
            <pc:sldMasterMk cId="4050988964" sldId="2147483888"/>
            <pc:sldLayoutMk cId="358650796" sldId="2147483900"/>
          </pc:sldLayoutMkLst>
          <pc:cxnChg chg="add del">
            <ac:chgData name="TEJANI CHETTY" userId="b3c52a8b8ace440d" providerId="LiveId" clId="{A74DBB71-4BFA-42D6-ADB7-B0F2DC624C49}" dt="2026-10-09T06:27:13.049" v="14"/>
            <ac:cxnSpMkLst>
              <pc:docMk/>
              <pc:sldMasterMk cId="4050988964" sldId="2147483888"/>
              <pc:sldLayoutMk cId="358650796" sldId="2147483900"/>
              <ac:cxnSpMk id="8" creationId="{3C1F8589-B640-4540-D0AD-2B0461CD340F}"/>
            </ac:cxnSpMkLst>
          </pc:cxnChg>
        </pc:sldLayoutChg>
        <pc:sldLayoutChg chg="addSp delSp">
          <pc:chgData name="TEJANI CHETTY" userId="b3c52a8b8ace440d" providerId="LiveId" clId="{A74DBB71-4BFA-42D6-ADB7-B0F2DC624C49}" dt="2026-10-09T06:27:13.049" v="14"/>
          <pc:sldLayoutMkLst>
            <pc:docMk/>
            <pc:sldMasterMk cId="4050988964" sldId="2147483888"/>
            <pc:sldLayoutMk cId="26332148" sldId="2147483901"/>
          </pc:sldLayoutMkLst>
          <pc:cxnChg chg="add del">
            <ac:chgData name="TEJANI CHETTY" userId="b3c52a8b8ace440d" providerId="LiveId" clId="{A74DBB71-4BFA-42D6-ADB7-B0F2DC624C49}" dt="2026-10-09T06:27:13.049" v="14"/>
            <ac:cxnSpMkLst>
              <pc:docMk/>
              <pc:sldMasterMk cId="4050988964" sldId="2147483888"/>
              <pc:sldLayoutMk cId="26332148" sldId="2147483901"/>
              <ac:cxnSpMk id="7" creationId="{FD144482-F463-E942-01AE-69DF54F4171C}"/>
            </ac:cxnSpMkLst>
          </pc:cxn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8.xml"/><Relationship Id="rId7"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Master" Target="../slideMasters/slideMaster1.xml"/><Relationship Id="rId4" Type="http://schemas.openxmlformats.org/officeDocument/2006/relationships/tags" Target="../tags/tag15.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Master" Target="../slideMasters/slideMaster1.xml"/><Relationship Id="rId5" Type="http://schemas.openxmlformats.org/officeDocument/2006/relationships/tags" Target="../tags/tag20.xml"/><Relationship Id="rId4" Type="http://schemas.openxmlformats.org/officeDocument/2006/relationships/tags" Target="../tags/tag1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9AE70B2-8BF9-45C0-BB95-33D1B9D3A854}" type="slidenum">
              <a:rPr lang="en-US" smtClean="0"/>
              <a:t>‹#›</a:t>
            </a:fld>
            <a:endParaRPr lang="en-US" dirty="0"/>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2575760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2923323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49AE70B2-8BF9-45C0-BB95-33D1B9D3A854}" type="slidenum">
              <a:rPr lang="en-US" smtClean="0"/>
              <a:t>‹#›</a:t>
            </a:fld>
            <a:endParaRPr lang="en-US" dirty="0"/>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20897535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33900153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1093147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9AE70B2-8BF9-45C0-BB95-33D1B9D3A854}" type="slidenum">
              <a:rPr lang="en-US" smtClean="0"/>
              <a:t>‹#›</a:t>
            </a:fld>
            <a:endParaRPr lang="en-US" dirty="0"/>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06997874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dirty="0"/>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1196321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26676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1052524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760FBDFE-C587-4B4C-A407-44438C67B59E}" type="datetimeFigureOut">
              <a:rPr lang="en-US" smtClean="0"/>
              <a:t>10/9/2026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1628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6207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6402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1758061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9AE70B2-8BF9-45C0-BB95-33D1B9D3A854}" type="slidenum">
              <a:rPr lang="en-US" smtClean="0"/>
              <a:t>‹#›</a:t>
            </a:fld>
            <a:endParaRPr lang="en-US" dirty="0"/>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224971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49AE70B2-8BF9-45C0-BB95-33D1B9D3A854}" type="slidenum">
              <a:rPr lang="en-US" smtClean="0"/>
              <a:t>‹#›</a:t>
            </a:fld>
            <a:endParaRPr lang="en-US" dirty="0"/>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9257149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49AE70B2-8BF9-45C0-BB95-33D1B9D3A854}" type="slidenum">
              <a:rPr lang="en-US" smtClean="0"/>
              <a:t>‹#›</a:t>
            </a:fld>
            <a:endParaRPr lang="en-US" dirty="0"/>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010061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253859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49AE70B2-8BF9-45C0-BB95-33D1B9D3A854}" type="slidenum">
              <a:rPr lang="en-US" smtClean="0"/>
              <a:t>‹#›</a:t>
            </a:fld>
            <a:endParaRPr lang="en-US" dirty="0"/>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2839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9AE70B2-8BF9-45C0-BB95-33D1B9D3A854}" type="slidenum">
              <a:rPr lang="en-US" smtClean="0"/>
              <a:t>‹#›</a:t>
            </a:fld>
            <a:endParaRPr lang="en-US" dirty="0"/>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238536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49AE70B2-8BF9-45C0-BB95-33D1B9D3A854}" type="slidenum">
              <a:rPr lang="en-US" smtClean="0"/>
              <a:t>‹#›</a:t>
            </a:fld>
            <a:endParaRPr lang="en-US" dirty="0"/>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4101340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49AE70B2-8BF9-45C0-BB95-33D1B9D3A854}" type="slidenum">
              <a:rPr lang="en-US" smtClean="0"/>
              <a:t>‹#›</a:t>
            </a:fld>
            <a:endParaRPr lang="en-US" dirty="0"/>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495699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49AE70B2-8BF9-45C0-BB95-33D1B9D3A854}" type="slidenum">
              <a:rPr lang="en-US" smtClean="0"/>
              <a:t>‹#›</a:t>
            </a:fld>
            <a:endParaRPr lang="en-US"/>
          </a:p>
        </p:txBody>
      </p:sp>
    </p:spTree>
    <p:extLst>
      <p:ext uri="{BB962C8B-B14F-4D97-AF65-F5344CB8AC3E}">
        <p14:creationId xmlns:p14="http://schemas.microsoft.com/office/powerpoint/2010/main" val="425882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49AE70B2-8BF9-45C0-BB95-33D1B9D3A854}" type="slidenum">
              <a:rPr lang="en-US" smtClean="0"/>
              <a:t>‹#›</a:t>
            </a:fld>
            <a:endParaRPr lang="en-US"/>
          </a:p>
        </p:txBody>
      </p:sp>
    </p:spTree>
    <p:extLst>
      <p:ext uri="{BB962C8B-B14F-4D97-AF65-F5344CB8AC3E}">
        <p14:creationId xmlns:p14="http://schemas.microsoft.com/office/powerpoint/2010/main" val="32828721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49AE70B2-8BF9-45C0-BB95-33D1B9D3A854}" type="slidenum">
              <a:rPr lang="en-US" smtClean="0"/>
              <a:t>‹#›</a:t>
            </a:fld>
            <a:endParaRPr lang="en-US"/>
          </a:p>
        </p:txBody>
      </p:sp>
    </p:spTree>
    <p:extLst>
      <p:ext uri="{BB962C8B-B14F-4D97-AF65-F5344CB8AC3E}">
        <p14:creationId xmlns:p14="http://schemas.microsoft.com/office/powerpoint/2010/main" val="36629538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760FBDFE-C587-4B4C-A407-44438C67B59E}" type="datetimeFigureOut">
              <a:rPr lang="en-US" smtClean="0"/>
              <a:t>10/9/2026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3668762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151741792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430685574"/>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10/9/2026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extLst>
      <p:ext uri="{BB962C8B-B14F-4D97-AF65-F5344CB8AC3E}">
        <p14:creationId xmlns:p14="http://schemas.microsoft.com/office/powerpoint/2010/main" val="1098948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10/9/2026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10/9/2026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10/9/2026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60FBDFE-C587-4B4C-A407-44438C67B59E}" type="datetimeFigureOut">
              <a:rPr lang="en-US" smtClean="0"/>
              <a:t>10/9/2026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1587806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56" r:id="rId29"/>
    <p:sldLayoutId id="2147483658" r:id="rId30"/>
    <p:sldLayoutId id="2147483659" r:id="rId31"/>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23.xml"/><Relationship Id="rId7" Type="http://schemas.openxmlformats.org/officeDocument/2006/relationships/image" Target="../media/image8.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32.xml"/><Relationship Id="rId7" Type="http://schemas.openxmlformats.org/officeDocument/2006/relationships/image" Target="../media/image12.jpe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image" Target="../media/image15.jpe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sdgs.un.org/goals/goal9?utm_source=chatgpt.com" TargetMode="External"/><Relationship Id="rId3" Type="http://schemas.openxmlformats.org/officeDocument/2006/relationships/tags" Target="../tags/tag58.xml"/><Relationship Id="rId7" Type="http://schemas.openxmlformats.org/officeDocument/2006/relationships/hyperlink" Target="https://doi.org/10.3390/s23187863" TargetMode="Externa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hyperlink" Target="https://www.usgs.gov/landsat-missions/landsat-collection-2-surface-temperature?utm_source=chatgpt.com" TargetMode="External"/><Relationship Id="rId5" Type="http://schemas.openxmlformats.org/officeDocument/2006/relationships/hyperlink" Target="https://www.fhwa.dot.gov/bridge/britab.cfm?utm_source=chatgpt.com" TargetMode="External"/><Relationship Id="rId10" Type="http://schemas.openxmlformats.org/officeDocument/2006/relationships/hyperlink" Target="https://fastapi.tiangolo.com/" TargetMode="External"/><Relationship Id="rId4" Type="http://schemas.openxmlformats.org/officeDocument/2006/relationships/slideLayout" Target="../slideLayouts/slideLayout2.xml"/><Relationship Id="rId9" Type="http://schemas.openxmlformats.org/officeDocument/2006/relationships/hyperlink" Target="https://www.openstreetmap.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012190" y="1597660"/>
            <a:ext cx="9076690" cy="1155065"/>
          </a:xfrm>
        </p:spPr>
        <p:txBody>
          <a:bodyPr>
            <a:normAutofit/>
          </a:bodyPr>
          <a:lstStyle/>
          <a:p>
            <a:r>
              <a:rPr lang="en-US" dirty="0"/>
              <a:t>Thermal Pulse</a:t>
            </a:r>
          </a:p>
        </p:txBody>
      </p:sp>
      <p:sp>
        <p:nvSpPr>
          <p:cNvPr id="3" name="Subtitle 2"/>
          <p:cNvSpPr>
            <a:spLocks noGrp="1"/>
          </p:cNvSpPr>
          <p:nvPr>
            <p:ph type="subTitle" idx="1"/>
            <p:custDataLst>
              <p:tags r:id="rId3"/>
            </p:custDataLst>
          </p:nvPr>
        </p:nvSpPr>
        <p:spPr>
          <a:xfrm>
            <a:off x="1198800" y="3626440"/>
            <a:ext cx="9799200" cy="1472400"/>
          </a:xfrm>
        </p:spPr>
        <p:txBody>
          <a:bodyPr>
            <a:normAutofit/>
          </a:bodyPr>
          <a:lstStyle/>
          <a:p>
            <a:pPr algn="l"/>
            <a:r>
              <a:rPr lang="en-US" sz="1800" b="1" dirty="0">
                <a:solidFill>
                  <a:schemeClr val="tx1"/>
                </a:solidFill>
                <a:latin typeface="Times New Roman" panose="02020603050405020304" charset="0"/>
                <a:cs typeface="Times New Roman" panose="02020603050405020304" charset="0"/>
                <a:sym typeface="+mn-ea"/>
              </a:rPr>
              <a:t>NAME: </a:t>
            </a:r>
            <a:r>
              <a:rPr lang="en-US" sz="1800" b="1" dirty="0" err="1">
                <a:solidFill>
                  <a:schemeClr val="tx1"/>
                </a:solidFill>
                <a:latin typeface="Times New Roman" panose="02020603050405020304" charset="0"/>
                <a:cs typeface="Times New Roman" panose="02020603050405020304" charset="0"/>
                <a:sym typeface="+mn-ea"/>
              </a:rPr>
              <a:t>L.Tejani</a:t>
            </a:r>
            <a:r>
              <a:rPr lang="en-US" sz="1800" b="1" dirty="0">
                <a:solidFill>
                  <a:schemeClr val="tx1"/>
                </a:solidFill>
                <a:latin typeface="Times New Roman" panose="02020603050405020304" charset="0"/>
                <a:cs typeface="Times New Roman" panose="02020603050405020304" charset="0"/>
                <a:sym typeface="+mn-ea"/>
              </a:rPr>
              <a:t>(vtu28866) </a:t>
            </a:r>
            <a:endParaRPr lang="en-US" sz="1800" b="1" dirty="0">
              <a:solidFill>
                <a:schemeClr val="tx1"/>
              </a:solidFill>
              <a:latin typeface="Times New Roman" panose="02020603050405020304" charset="0"/>
              <a:cs typeface="Times New Roman" panose="02020603050405020304" charset="0"/>
            </a:endParaRPr>
          </a:p>
          <a:p>
            <a:pPr algn="l"/>
            <a:r>
              <a:rPr lang="en-US" sz="1800" b="1" dirty="0">
                <a:solidFill>
                  <a:schemeClr val="tx1"/>
                </a:solidFill>
                <a:latin typeface="Times New Roman" panose="02020603050405020304" charset="0"/>
                <a:cs typeface="Times New Roman" panose="02020603050405020304" charset="0"/>
                <a:sym typeface="+mn-ea"/>
              </a:rPr>
              <a:t>NAME: </a:t>
            </a:r>
            <a:r>
              <a:rPr lang="en-US" sz="1800" b="1" dirty="0" err="1">
                <a:solidFill>
                  <a:schemeClr val="tx1"/>
                </a:solidFill>
                <a:latin typeface="Times New Roman" panose="02020603050405020304" charset="0"/>
                <a:cs typeface="Times New Roman" panose="02020603050405020304" charset="0"/>
                <a:sym typeface="+mn-ea"/>
              </a:rPr>
              <a:t>A.Siva</a:t>
            </a:r>
            <a:r>
              <a:rPr lang="en-US" sz="1800" b="1" dirty="0">
                <a:solidFill>
                  <a:schemeClr val="tx1"/>
                </a:solidFill>
                <a:latin typeface="Times New Roman" panose="02020603050405020304" charset="0"/>
                <a:cs typeface="Times New Roman" panose="02020603050405020304" charset="0"/>
                <a:sym typeface="+mn-ea"/>
              </a:rPr>
              <a:t> Shankar(vtu28853)</a:t>
            </a:r>
            <a:endParaRPr lang="en-US" sz="1800" b="1" dirty="0">
              <a:solidFill>
                <a:schemeClr val="tx1"/>
              </a:solidFill>
              <a:latin typeface="Times New Roman" panose="02020603050405020304" charset="0"/>
              <a:cs typeface="Times New Roman" panose="02020603050405020304" charset="0"/>
            </a:endParaRPr>
          </a:p>
          <a:p>
            <a:pPr algn="l"/>
            <a:r>
              <a:rPr lang="en-US" sz="1800" b="1" dirty="0">
                <a:solidFill>
                  <a:schemeClr val="tx1"/>
                </a:solidFill>
                <a:latin typeface="Times New Roman" panose="02020603050405020304" charset="0"/>
                <a:cs typeface="Times New Roman" panose="02020603050405020304" charset="0"/>
                <a:sym typeface="+mn-ea"/>
              </a:rPr>
              <a:t>NAME: </a:t>
            </a:r>
            <a:r>
              <a:rPr lang="en-US" sz="1800" b="1" dirty="0" err="1">
                <a:solidFill>
                  <a:schemeClr val="tx1"/>
                </a:solidFill>
                <a:latin typeface="Times New Roman" panose="02020603050405020304" charset="0"/>
                <a:cs typeface="Times New Roman" panose="02020603050405020304" charset="0"/>
                <a:sym typeface="+mn-ea"/>
              </a:rPr>
              <a:t>M.V.Tejaswini</a:t>
            </a:r>
            <a:r>
              <a:rPr lang="en-US" sz="1800" b="1" dirty="0">
                <a:solidFill>
                  <a:schemeClr val="tx1"/>
                </a:solidFill>
                <a:latin typeface="Times New Roman" panose="02020603050405020304" charset="0"/>
                <a:cs typeface="Times New Roman" panose="02020603050405020304" charset="0"/>
                <a:sym typeface="+mn-ea"/>
              </a:rPr>
              <a:t>(vtu30488)</a:t>
            </a:r>
            <a:endParaRPr lang="en-US" altLang="en-US" sz="1800" b="1" dirty="0">
              <a:solidFill>
                <a:schemeClr val="tx1"/>
              </a:solidFill>
              <a:latin typeface="Times New Roman" panose="02020603050405020304" charset="0"/>
              <a:cs typeface="Times New Roman" panose="02020603050405020304" charset="0"/>
              <a:sym typeface="+mn-ea"/>
            </a:endParaRPr>
          </a:p>
        </p:txBody>
      </p:sp>
      <p:sp>
        <p:nvSpPr>
          <p:cNvPr id="4" name="Text Box 3"/>
          <p:cNvSpPr txBox="1"/>
          <p:nvPr/>
        </p:nvSpPr>
        <p:spPr>
          <a:xfrm>
            <a:off x="1012190" y="624205"/>
            <a:ext cx="9222740" cy="1938020"/>
          </a:xfrm>
          <a:prstGeom prst="rect">
            <a:avLst/>
          </a:prstGeom>
          <a:noFill/>
        </p:spPr>
        <p:txBody>
          <a:bodyPr wrap="square" rtlCol="0">
            <a:spAutoFit/>
          </a:bodyPr>
          <a:lstStyle/>
          <a:p>
            <a:r>
              <a:rPr lang="en-US" sz="2000" b="1" dirty="0">
                <a:latin typeface="Times New Roman" panose="02020603050405020304" charset="0"/>
                <a:cs typeface="Times New Roman" panose="02020603050405020304" charset="0"/>
                <a:sym typeface="+mn-ea"/>
              </a:rPr>
              <a:t>Vel Tech Rangarajan Dr. Sagunthala R&amp;D Institute of Science and Technology</a:t>
            </a:r>
            <a:endParaRPr lang="en-IN" sz="2000" b="1" dirty="0">
              <a:latin typeface="Times New Roman" panose="02020603050405020304" charset="0"/>
              <a:cs typeface="Times New Roman" panose="02020603050405020304" charset="0"/>
            </a:endParaRPr>
          </a:p>
          <a:p>
            <a:endParaRPr lang="en-US" sz="2000" dirty="0">
              <a:latin typeface="Times New Roman" panose="02020603050405020304" charset="0"/>
              <a:cs typeface="Times New Roman" panose="02020603050405020304" charset="0"/>
            </a:endParaRPr>
          </a:p>
          <a:p>
            <a:endParaRPr lang="en-US" sz="2000" dirty="0"/>
          </a:p>
          <a:p>
            <a:br>
              <a:rPr lang="en-IN" sz="2000" b="1" dirty="0">
                <a:latin typeface="Times New Roman" panose="02020603050405020304" charset="0"/>
                <a:cs typeface="Times New Roman" panose="02020603050405020304" charset="0"/>
                <a:sym typeface="+mn-ea"/>
              </a:rPr>
            </a:br>
            <a:br>
              <a:rPr lang="en-US" sz="2000" dirty="0">
                <a:latin typeface="Times New Roman" panose="02020603050405020304" charset="0"/>
                <a:cs typeface="Times New Roman" panose="02020603050405020304" charset="0"/>
                <a:sym typeface="+mn-ea"/>
              </a:rPr>
            </a:br>
            <a:endParaRPr lang="en-US" sz="2000" dirty="0">
              <a:latin typeface="Times New Roman" panose="02020603050405020304" charset="0"/>
              <a:cs typeface="Times New Roman" panose="02020603050405020304" charset="0"/>
            </a:endParaRPr>
          </a:p>
        </p:txBody>
      </p:sp>
      <p:pic>
        <p:nvPicPr>
          <p:cNvPr id="7" name="Picture 6" descr="Veltech_Rangarajan_Dr._Sagunthala_R&amp;D_Institute_of_Science_and_Technology_logo"/>
          <p:cNvPicPr>
            <a:picLocks noChangeAspect="1"/>
          </p:cNvPicPr>
          <p:nvPr/>
        </p:nvPicPr>
        <p:blipFill>
          <a:blip r:embed="rId5"/>
          <a:stretch>
            <a:fillRect/>
          </a:stretch>
        </p:blipFill>
        <p:spPr>
          <a:xfrm>
            <a:off x="9841865" y="328295"/>
            <a:ext cx="1569085" cy="1569085"/>
          </a:xfrm>
          <a:prstGeom prst="rect">
            <a:avLst/>
          </a:prstGeom>
        </p:spPr>
      </p:pic>
      <p:sp>
        <p:nvSpPr>
          <p:cNvPr id="6" name="Text Box 5"/>
          <p:cNvSpPr txBox="1"/>
          <p:nvPr/>
        </p:nvSpPr>
        <p:spPr>
          <a:xfrm>
            <a:off x="3823970" y="2771775"/>
            <a:ext cx="4064000" cy="645160"/>
          </a:xfrm>
          <a:prstGeom prst="rect">
            <a:avLst/>
          </a:prstGeom>
          <a:noFill/>
        </p:spPr>
        <p:txBody>
          <a:bodyPr wrap="square" rtlCol="0">
            <a:spAutoFit/>
          </a:bodyPr>
          <a:lstStyle/>
          <a:p>
            <a:r>
              <a:rPr lang="en-US" b="1"/>
              <a:t>   Presented by</a:t>
            </a:r>
          </a:p>
          <a:p>
            <a:r>
              <a:rPr lang="en-US" b="1"/>
              <a:t>Team Heat Blast</a:t>
            </a:r>
          </a:p>
        </p:txBody>
      </p:sp>
      <p:pic>
        <p:nvPicPr>
          <p:cNvPr id="13" name="Picture 12"/>
          <p:cNvPicPr>
            <a:picLocks noChangeAspect="1"/>
          </p:cNvPicPr>
          <p:nvPr/>
        </p:nvPicPr>
        <p:blipFill>
          <a:blip r:embed="rId6"/>
          <a:stretch>
            <a:fillRect/>
          </a:stretch>
        </p:blipFill>
        <p:spPr>
          <a:xfrm>
            <a:off x="9681411" y="2906516"/>
            <a:ext cx="1861619" cy="1910594"/>
          </a:xfrm>
          <a:prstGeom prst="rect">
            <a:avLst/>
          </a:prstGeom>
        </p:spPr>
      </p:pic>
      <p:pic>
        <p:nvPicPr>
          <p:cNvPr id="15" name="Picture 14"/>
          <p:cNvPicPr>
            <a:picLocks noChangeAspect="1"/>
          </p:cNvPicPr>
          <p:nvPr/>
        </p:nvPicPr>
        <p:blipFill>
          <a:blip r:embed="rId7"/>
          <a:stretch>
            <a:fillRect/>
          </a:stretch>
        </p:blipFill>
        <p:spPr>
          <a:xfrm>
            <a:off x="8429625" y="4773930"/>
            <a:ext cx="2072640" cy="1735455"/>
          </a:xfrm>
          <a:prstGeom prst="rect">
            <a:avLst/>
          </a:prstGeom>
        </p:spPr>
      </p:pic>
      <p:pic>
        <p:nvPicPr>
          <p:cNvPr id="16" name="Picture 15"/>
          <p:cNvPicPr>
            <a:picLocks noChangeAspect="1"/>
          </p:cNvPicPr>
          <p:nvPr/>
        </p:nvPicPr>
        <p:blipFill>
          <a:blip r:embed="rId8"/>
          <a:stretch>
            <a:fillRect/>
          </a:stretch>
        </p:blipFill>
        <p:spPr>
          <a:xfrm>
            <a:off x="7742555" y="2960370"/>
            <a:ext cx="1772920" cy="1813560"/>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375790" y="183537"/>
            <a:ext cx="10969200" cy="705600"/>
          </a:xfrm>
        </p:spPr>
        <p:txBody>
          <a:bodyPr/>
          <a:lstStyle/>
          <a:p>
            <a:r>
              <a:rPr lang="en-US" dirty="0"/>
              <a:t>Problem Statement:</a:t>
            </a:r>
          </a:p>
        </p:txBody>
      </p:sp>
      <p:sp>
        <p:nvSpPr>
          <p:cNvPr id="3" name="Content Placeholder 2"/>
          <p:cNvSpPr>
            <a:spLocks noGrp="1"/>
          </p:cNvSpPr>
          <p:nvPr>
            <p:ph idx="1"/>
            <p:custDataLst>
              <p:tags r:id="rId3"/>
            </p:custDataLst>
          </p:nvPr>
        </p:nvSpPr>
        <p:spPr>
          <a:xfrm>
            <a:off x="375790" y="1209663"/>
            <a:ext cx="11663810" cy="5568126"/>
          </a:xfrm>
        </p:spPr>
        <p:txBody>
          <a:bodyPr>
            <a:normAutofit fontScale="77500" lnSpcReduction="20000"/>
          </a:bodyPr>
          <a:lstStyle/>
          <a:p>
            <a:r>
              <a:rPr lang="en-IN" sz="2300" dirty="0"/>
              <a:t>Bridges are essential components of transportation infrastructure, connecting cities, communities, and businesses. However, aging structures, environmental exposure, heavy traffic, and limited maintenance resources can contribute to bridge deterioration over time. Traditional inspection methods often require significant time, manpower, and physical access, making continuous monitoring and early identification of potential defects challenging.</a:t>
            </a:r>
          </a:p>
          <a:p>
            <a:r>
              <a:rPr lang="en-IN" sz="2300" dirty="0"/>
              <a:t>Furthermore, inspection data, maintenance records, and repair updates may be managed separately, making it difficult to prioritize inspections and track repair outcomes efficiently. These challenges can delay the identification of infrastructure concerns and increase the complexity of maintenance planning.</a:t>
            </a:r>
          </a:p>
          <a:p>
            <a:r>
              <a:rPr lang="en-IN" sz="2300" b="1" dirty="0" err="1"/>
              <a:t>ThermalPulse</a:t>
            </a:r>
            <a:r>
              <a:rPr lang="en-IN" sz="2300" dirty="0"/>
              <a:t> aims to address these challenges through an AI-assisted bridge-monitoring platform that combines satellite-based thermal observations, geospatial analysis, and ground-level image assessment to identify potential concerns for further inspection. The platform provides a centralized dashboard for monitoring bridge observations, prioritizing inspections, managing maintenance activities, and recording post-repair verification. It also includes a simulated autonomous repair vehicle to demonstrate a potential future approach to infrastructure maintenance.</a:t>
            </a:r>
          </a:p>
          <a:p>
            <a:r>
              <a:rPr lang="en-IN" sz="2300" dirty="0"/>
              <a:t>The goal is to support proactive infrastructure management, improve inspection efficiency, and contribute to safer, more reliable, and sustainable transportation infrastructure.</a:t>
            </a:r>
          </a:p>
          <a:p>
            <a:pPr marL="0" indent="0">
              <a:buNone/>
            </a:pPr>
            <a:endParaRPr lang="en-US"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t>Problem Evidence/Research:</a:t>
            </a:r>
          </a:p>
        </p:txBody>
      </p:sp>
      <p:sp>
        <p:nvSpPr>
          <p:cNvPr id="3" name="Content Placeholder 2"/>
          <p:cNvSpPr>
            <a:spLocks noGrp="1"/>
          </p:cNvSpPr>
          <p:nvPr>
            <p:ph idx="1"/>
            <p:custDataLst>
              <p:tags r:id="rId3"/>
            </p:custDataLst>
          </p:nvPr>
        </p:nvSpPr>
        <p:spPr>
          <a:xfrm>
            <a:off x="608399" y="1490400"/>
            <a:ext cx="11334947" cy="5279368"/>
          </a:xfrm>
        </p:spPr>
        <p:txBody>
          <a:bodyPr>
            <a:normAutofit/>
          </a:bodyPr>
          <a:lstStyle/>
          <a:p>
            <a:pPr marL="0" indent="0">
              <a:buNone/>
            </a:pPr>
            <a:r>
              <a:rPr lang="en-IN" dirty="0"/>
              <a:t>🌉 1. Bridge Infrastructure Challenges Bridges are essential for transportation, connecting people, businesses, and communities. Aging structures, environmental exposure, and heavy traffic can contribute to deterioration, making regular inspection and maintenance important.</a:t>
            </a:r>
          </a:p>
          <a:p>
            <a:pPr marL="0" indent="0">
              <a:buNone/>
            </a:pPr>
            <a:r>
              <a:rPr lang="en-IN" dirty="0"/>
              <a:t>🛰️ 2. Satellite-Based Thermal Monitoring Satellite missions such as Landsat provide surface-temperature data that can support environmental monitoring. </a:t>
            </a:r>
            <a:r>
              <a:rPr lang="en-IN" dirty="0" err="1"/>
              <a:t>ThermalPulse</a:t>
            </a:r>
            <a:r>
              <a:rPr lang="en-IN" dirty="0"/>
              <a:t> aims to </a:t>
            </a:r>
            <a:r>
              <a:rPr lang="en-IN" dirty="0" err="1"/>
              <a:t>analyze</a:t>
            </a:r>
            <a:r>
              <a:rPr lang="en-IN" dirty="0"/>
              <a:t> unusual temperature patterns around bridges and flag locations for further investigation.</a:t>
            </a:r>
          </a:p>
          <a:p>
            <a:pPr marL="0" indent="0">
              <a:buNone/>
            </a:pPr>
            <a:r>
              <a:rPr lang="en-IN" dirty="0"/>
              <a:t>🤖 3. AI-Powered Defect Assessment AI-based image analysis can help identify visible defects in ground-level bridge photographs, supporting inspection teams in prioritizing areas that require professional assessment.</a:t>
            </a:r>
          </a:p>
          <a:p>
            <a:pPr marL="0" indent="0">
              <a:buNone/>
            </a:pPr>
            <a:r>
              <a:rPr lang="en-IN" dirty="0"/>
              <a:t>📊 4. Data-Driven Maintenance Planning Combining bridge observations, inspection images, and maintenance records in a centralized dashboard can help authorities organize inspections, monitor repair progress, and maintain traceable records.</a:t>
            </a:r>
          </a:p>
          <a:p>
            <a:pPr marL="0" indent="0">
              <a:buNone/>
            </a:pPr>
            <a:r>
              <a:rPr lang="en-IN" dirty="0"/>
              <a:t>🌍 5. Sustainable Development Goals </a:t>
            </a:r>
            <a:r>
              <a:rPr lang="en-IN" dirty="0" err="1"/>
              <a:t>ThermalPulse</a:t>
            </a:r>
            <a:r>
              <a:rPr lang="en-IN" dirty="0"/>
              <a:t> primarily supports SDG 9 — Industry, Innovation and Infrastructure, with connections to SDG 11 — Sustainable Cities and Communities and SDG 13 — Climate Action through its focus on infrastructure resilience and environmental monitoring.</a:t>
            </a:r>
          </a:p>
          <a:p>
            <a:pPr marL="0" indent="0">
              <a:buNone/>
            </a:pPr>
            <a:endParaRPr lang="en-US" dirty="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328288"/>
            <a:ext cx="10969200" cy="705600"/>
          </a:xfrm>
        </p:spPr>
        <p:txBody>
          <a:bodyPr/>
          <a:lstStyle/>
          <a:p>
            <a:r>
              <a:rPr lang="en-US" dirty="0"/>
              <a:t>SDG Alignment:</a:t>
            </a:r>
          </a:p>
        </p:txBody>
      </p:sp>
      <p:sp>
        <p:nvSpPr>
          <p:cNvPr id="3" name="Content Placeholder 2"/>
          <p:cNvSpPr>
            <a:spLocks noGrp="1"/>
          </p:cNvSpPr>
          <p:nvPr>
            <p:ph idx="1"/>
            <p:custDataLst>
              <p:tags r:id="rId3"/>
            </p:custDataLst>
          </p:nvPr>
        </p:nvSpPr>
        <p:spPr/>
        <p:txBody>
          <a:bodyPr>
            <a:normAutofit/>
          </a:bodyPr>
          <a:lstStyle/>
          <a:p>
            <a:r>
              <a:rPr lang="en-IN" b="1" dirty="0"/>
              <a:t>🏗️ SDG 9: Industry, Innovation and Infrastructure</a:t>
            </a:r>
          </a:p>
          <a:p>
            <a:r>
              <a:rPr lang="en-IN" dirty="0"/>
              <a:t>Target 9.1 — Develop reliable, sustainable and resilient infrastructure.</a:t>
            </a:r>
          </a:p>
          <a:p>
            <a:r>
              <a:rPr lang="en-IN" dirty="0" err="1"/>
              <a:t>ThermalPulse</a:t>
            </a:r>
            <a:r>
              <a:rPr lang="en-IN" dirty="0"/>
              <a:t> uses satellite-assisted thermal screening, AI-supported image analysis, and digital inspection tracking to help identify bridges that may require closer inspection.</a:t>
            </a:r>
          </a:p>
          <a:p>
            <a:r>
              <a:rPr lang="en-IN" dirty="0"/>
              <a:t>Our contribution: Support proactive bridge maintenance and infrastructure resilience through technology.</a:t>
            </a:r>
          </a:p>
          <a:p>
            <a:r>
              <a:rPr lang="en-IN" b="1" dirty="0"/>
              <a:t>🏙️ SDG 11: Sustainable Cities and Communities</a:t>
            </a:r>
          </a:p>
          <a:p>
            <a:r>
              <a:rPr lang="en-IN" dirty="0"/>
              <a:t>Target 11.2 — Accessible, safe, affordable and sustainable transport systems.</a:t>
            </a:r>
          </a:p>
          <a:p>
            <a:r>
              <a:rPr lang="en-IN" dirty="0"/>
              <a:t>By helping authorities prioritize bridge inspections and coordinate maintenance, </a:t>
            </a:r>
            <a:r>
              <a:rPr lang="en-IN" dirty="0" err="1"/>
              <a:t>ThermalPulse</a:t>
            </a:r>
            <a:r>
              <a:rPr lang="en-IN" dirty="0"/>
              <a:t> aims to support more reliable transportation infrastructure for commuters and local communities.</a:t>
            </a:r>
          </a:p>
          <a:p>
            <a:r>
              <a:rPr lang="en-IN" b="1" dirty="0"/>
              <a:t>🌱 SDG 13: Climate Action</a:t>
            </a:r>
          </a:p>
          <a:p>
            <a:r>
              <a:rPr lang="en-IN" dirty="0"/>
              <a:t>Target 13.1 — Strengthen resilience and adaptive capacity to climate-related hazards.</a:t>
            </a:r>
          </a:p>
          <a:p>
            <a:r>
              <a:rPr lang="en-IN" dirty="0" err="1"/>
              <a:t>ThermalPulse</a:t>
            </a:r>
            <a:r>
              <a:rPr lang="en-IN" dirty="0"/>
              <a:t> could support infrastructure monitoring by helping engineers investigate potential concerns associated with environmental exposure. Further validation is needed to demonstrate its effectiveness in climate-related risk assessment.</a:t>
            </a:r>
          </a:p>
          <a:p>
            <a:endParaRPr lang="en-US" dirty="0"/>
          </a:p>
        </p:txBody>
      </p:sp>
      <p:pic>
        <p:nvPicPr>
          <p:cNvPr id="4" name="Picture 3" descr="File:Sustainable Development Goal 11SustainableCities.svg - Wikimedia Commons">
            <a:extLst>
              <a:ext uri="{FF2B5EF4-FFF2-40B4-BE49-F238E27FC236}">
                <a16:creationId xmlns:a16="http://schemas.microsoft.com/office/drawing/2014/main" id="{F28283C9-BC2A-9863-B2FA-EC4298AB89F7}"/>
              </a:ext>
            </a:extLst>
          </p:cNvPr>
          <p:cNvPicPr>
            <a:picLocks noChangeAspect="1"/>
          </p:cNvPicPr>
          <p:nvPr/>
        </p:nvPicPr>
        <p:blipFill>
          <a:blip r:embed="rId5"/>
          <a:stretch>
            <a:fillRect/>
          </a:stretch>
        </p:blipFill>
        <p:spPr>
          <a:xfrm>
            <a:off x="7748335" y="185287"/>
            <a:ext cx="991603" cy="991603"/>
          </a:xfrm>
          <a:prstGeom prst="rect">
            <a:avLst/>
          </a:prstGeom>
        </p:spPr>
      </p:pic>
      <p:pic>
        <p:nvPicPr>
          <p:cNvPr id="5" name="Picture 4" descr="2030 SDG | CESOP Local">
            <a:extLst>
              <a:ext uri="{FF2B5EF4-FFF2-40B4-BE49-F238E27FC236}">
                <a16:creationId xmlns:a16="http://schemas.microsoft.com/office/drawing/2014/main" id="{12D0567D-8150-C4B4-273D-280F5B5CDC58}"/>
              </a:ext>
            </a:extLst>
          </p:cNvPr>
          <p:cNvPicPr>
            <a:picLocks noChangeAspect="1"/>
          </p:cNvPicPr>
          <p:nvPr/>
        </p:nvPicPr>
        <p:blipFill>
          <a:blip r:embed="rId6"/>
          <a:stretch>
            <a:fillRect/>
          </a:stretch>
        </p:blipFill>
        <p:spPr>
          <a:xfrm>
            <a:off x="8868277" y="185287"/>
            <a:ext cx="991603" cy="991603"/>
          </a:xfrm>
          <a:prstGeom prst="rect">
            <a:avLst/>
          </a:prstGeom>
        </p:spPr>
      </p:pic>
      <p:pic>
        <p:nvPicPr>
          <p:cNvPr id="10" name="Picture 9" descr="Sustainable Development Goals | United Nations Commission on International Trade Law">
            <a:extLst>
              <a:ext uri="{FF2B5EF4-FFF2-40B4-BE49-F238E27FC236}">
                <a16:creationId xmlns:a16="http://schemas.microsoft.com/office/drawing/2014/main" id="{E4F73B0D-792C-4C26-E8C6-990818CFBCAC}"/>
              </a:ext>
            </a:extLst>
          </p:cNvPr>
          <p:cNvPicPr>
            <a:picLocks noChangeAspect="1"/>
          </p:cNvPicPr>
          <p:nvPr/>
        </p:nvPicPr>
        <p:blipFill>
          <a:blip r:embed="rId7"/>
          <a:stretch>
            <a:fillRect/>
          </a:stretch>
        </p:blipFill>
        <p:spPr>
          <a:xfrm>
            <a:off x="6628394" y="185287"/>
            <a:ext cx="991602" cy="991602"/>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15369" y="327663"/>
            <a:ext cx="10969200" cy="705600"/>
          </a:xfrm>
        </p:spPr>
        <p:txBody>
          <a:bodyPr/>
          <a:lstStyle/>
          <a:p>
            <a:r>
              <a:rPr lang="en-US" dirty="0"/>
              <a:t>Existing Solution:</a:t>
            </a:r>
          </a:p>
        </p:txBody>
      </p:sp>
      <p:sp>
        <p:nvSpPr>
          <p:cNvPr id="3" name="Content Placeholder 2"/>
          <p:cNvSpPr>
            <a:spLocks noGrp="1"/>
          </p:cNvSpPr>
          <p:nvPr>
            <p:ph idx="1"/>
            <p:custDataLst>
              <p:tags r:id="rId3"/>
            </p:custDataLst>
          </p:nvPr>
        </p:nvSpPr>
        <p:spPr>
          <a:xfrm>
            <a:off x="120316" y="1314000"/>
            <a:ext cx="11919283" cy="5544000"/>
          </a:xfrm>
        </p:spPr>
        <p:txBody>
          <a:bodyPr>
            <a:normAutofit fontScale="62500" lnSpcReduction="20000"/>
          </a:bodyPr>
          <a:lstStyle/>
          <a:p>
            <a:pPr marL="0" indent="0">
              <a:buNone/>
            </a:pPr>
            <a:r>
              <a:rPr lang="en-IN" sz="2200" dirty="0"/>
              <a:t>🌉 Several technologies are already used to monitor bridge conditions and identify potential structural defects. However, each method has its own limitations in coverage, cost, accessibility, or workflow integration.</a:t>
            </a:r>
          </a:p>
          <a:p>
            <a:pPr marL="0" indent="0">
              <a:buNone/>
            </a:pPr>
            <a:r>
              <a:rPr lang="en-IN" sz="2200" b="1" dirty="0"/>
              <a:t>🏗️ 1. Existing solutions and their limitations</a:t>
            </a:r>
          </a:p>
          <a:p>
            <a:r>
              <a:rPr lang="en-IN" sz="2200" dirty="0"/>
              <a:t>👷 Manual Bridge Inspection</a:t>
            </a:r>
          </a:p>
          <a:p>
            <a:pPr marL="0" indent="0">
              <a:buNone/>
            </a:pPr>
            <a:r>
              <a:rPr lang="en-IN" sz="2200" dirty="0"/>
              <a:t>Engineers visually examine bridge components and assess visible defects.</a:t>
            </a:r>
          </a:p>
          <a:p>
            <a:pPr marL="0" indent="0">
              <a:buNone/>
            </a:pPr>
            <a:r>
              <a:rPr lang="en-IN" sz="2200" dirty="0"/>
              <a:t>⚠️ Limitation: Requires trained personnel, physical access, and considerable inspection time.</a:t>
            </a:r>
          </a:p>
          <a:p>
            <a:r>
              <a:rPr lang="en-IN" sz="2200" dirty="0"/>
              <a:t>🚁 Drone-Based Inspection</a:t>
            </a:r>
          </a:p>
          <a:p>
            <a:pPr marL="0" indent="0">
              <a:buNone/>
            </a:pPr>
            <a:r>
              <a:rPr lang="en-IN" sz="2200" dirty="0"/>
              <a:t>Cameras capture images of bridge surfaces and difficult-to-reach areas.</a:t>
            </a:r>
          </a:p>
          <a:p>
            <a:pPr marL="0" indent="0">
              <a:buNone/>
            </a:pPr>
            <a:r>
              <a:rPr lang="en-IN" sz="2200" dirty="0"/>
              <a:t>⚠️ Limitation: Image coverage can be incomplete, and physical examination may still be necessary.</a:t>
            </a:r>
          </a:p>
          <a:p>
            <a:r>
              <a:rPr lang="en-IN" sz="2200" dirty="0"/>
              <a:t>📡 Structural Health Monitoring (SHM)</a:t>
            </a:r>
          </a:p>
          <a:p>
            <a:pPr marL="0" indent="0">
              <a:buNone/>
            </a:pPr>
            <a:r>
              <a:rPr lang="en-IN" sz="2200" dirty="0"/>
              <a:t>Sensors measure parameters such as vibration, strain, and structural movement.</a:t>
            </a:r>
          </a:p>
          <a:p>
            <a:pPr marL="0" indent="0">
              <a:buNone/>
            </a:pPr>
            <a:r>
              <a:rPr lang="en-IN" sz="2200" dirty="0"/>
              <a:t>⚠️ Limitation: Sensor installation, maintenance, and data interpretation can require specialized resources.</a:t>
            </a:r>
          </a:p>
          <a:p>
            <a:pPr marL="0" indent="0">
              <a:buNone/>
            </a:pPr>
            <a:r>
              <a:rPr lang="en-IN" sz="2200" dirty="0"/>
              <a:t>Existing bridge inspection solutions include manual inspections, drone-based imaging, structural health monitoring sensors, and AI-based defect detection. Although these methods provide valuable information, they can have limitations in accessibility, coverage, data integration, and maintenance coordination.</a:t>
            </a:r>
          </a:p>
          <a:p>
            <a:pPr marL="0" indent="0">
              <a:buNone/>
            </a:pPr>
            <a:r>
              <a:rPr lang="en-IN" sz="2200" dirty="0" err="1"/>
              <a:t>ThermalPulse</a:t>
            </a:r>
            <a:r>
              <a:rPr lang="en-IN" sz="2200" dirty="0"/>
              <a:t> proposes an integrated platform that combines satellite-assisted thermal screening, AI-supported ground-image analysis, geospatial visualization, and repair tracking. Its key innovation is connecting potential defect identification with inspection prioritization and documented repair verification in a unified workflow.</a:t>
            </a:r>
          </a:p>
          <a:p>
            <a:pPr marL="0" indent="0">
              <a:buNone/>
            </a:pPr>
            <a:endParaRPr lang="en-IN" dirty="0"/>
          </a:p>
          <a:p>
            <a:endParaRPr lang="en-US"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a:t>Proposed Solution:</a:t>
            </a:r>
          </a:p>
        </p:txBody>
      </p:sp>
      <p:sp>
        <p:nvSpPr>
          <p:cNvPr id="3" name="Content Placeholder 2"/>
          <p:cNvSpPr>
            <a:spLocks noGrp="1"/>
          </p:cNvSpPr>
          <p:nvPr>
            <p:ph idx="1"/>
            <p:custDataLst>
              <p:tags r:id="rId3"/>
            </p:custDataLst>
          </p:nvPr>
        </p:nvSpPr>
        <p:spPr>
          <a:xfrm>
            <a:off x="608400" y="1490399"/>
            <a:ext cx="11447242" cy="5265829"/>
          </a:xfrm>
        </p:spPr>
        <p:txBody>
          <a:bodyPr>
            <a:noAutofit/>
          </a:bodyPr>
          <a:lstStyle/>
          <a:p>
            <a:r>
              <a:rPr lang="en-IN" sz="1000" dirty="0" err="1">
                <a:latin typeface="Times New Roman" panose="02020603050405020304" pitchFamily="18" charset="0"/>
                <a:cs typeface="Times New Roman" panose="02020603050405020304" pitchFamily="18" charset="0"/>
              </a:rPr>
              <a:t>ThermalPulse</a:t>
            </a:r>
            <a:r>
              <a:rPr lang="en-IN" sz="1000" dirty="0">
                <a:latin typeface="Times New Roman" panose="02020603050405020304" pitchFamily="18" charset="0"/>
                <a:cs typeface="Times New Roman" panose="02020603050405020304" pitchFamily="18" charset="0"/>
              </a:rPr>
              <a:t>: Space-Driven Infrastructure Health and Automated Bridge Auditor</a:t>
            </a:r>
          </a:p>
          <a:p>
            <a:r>
              <a:rPr lang="en-IN" sz="1000" dirty="0" err="1">
                <a:latin typeface="Times New Roman" panose="02020603050405020304" pitchFamily="18" charset="0"/>
                <a:cs typeface="Times New Roman" panose="02020603050405020304" pitchFamily="18" charset="0"/>
              </a:rPr>
              <a:t>ThermalPulse</a:t>
            </a:r>
            <a:r>
              <a:rPr lang="en-IN" sz="1000" dirty="0">
                <a:latin typeface="Times New Roman" panose="02020603050405020304" pitchFamily="18" charset="0"/>
                <a:cs typeface="Times New Roman" panose="02020603050405020304" pitchFamily="18" charset="0"/>
              </a:rPr>
              <a:t> is an AI-assisted bridge-monitoring platform designed to help identify potential infrastructure concerns, prioritize inspections, and manage maintenance activities through a centralized web dashboard.</a:t>
            </a:r>
          </a:p>
          <a:p>
            <a:r>
              <a:rPr lang="en-IN" sz="1000" dirty="0">
                <a:latin typeface="Times New Roman" panose="02020603050405020304" pitchFamily="18" charset="0"/>
                <a:cs typeface="Times New Roman" panose="02020603050405020304" pitchFamily="18" charset="0"/>
              </a:rPr>
              <a:t>🛰️ 1. Satellite-Based Thermal Screening</a:t>
            </a:r>
          </a:p>
          <a:p>
            <a:pPr marL="0" indent="0">
              <a:buNone/>
            </a:pPr>
            <a:r>
              <a:rPr lang="en-IN" sz="1000" dirty="0">
                <a:latin typeface="Times New Roman" panose="02020603050405020304" pitchFamily="18" charset="0"/>
                <a:cs typeface="Times New Roman" panose="02020603050405020304" pitchFamily="18" charset="0"/>
              </a:rPr>
              <a:t>Use satellite-derived surface-temperature data to flag unusual thermal patterns around bridges for further investigation.</a:t>
            </a:r>
          </a:p>
          <a:p>
            <a:r>
              <a:rPr lang="en-IN" sz="1000" dirty="0">
                <a:latin typeface="Times New Roman" panose="02020603050405020304" pitchFamily="18" charset="0"/>
                <a:cs typeface="Times New Roman" panose="02020603050405020304" pitchFamily="18" charset="0"/>
              </a:rPr>
              <a:t>🤖 2. AI-Powered Image Analysis</a:t>
            </a:r>
          </a:p>
          <a:p>
            <a:pPr marL="0" indent="0">
              <a:buNone/>
            </a:pPr>
            <a:r>
              <a:rPr lang="en-IN" sz="1000" dirty="0" err="1">
                <a:latin typeface="Times New Roman" panose="02020603050405020304" pitchFamily="18" charset="0"/>
                <a:cs typeface="Times New Roman" panose="02020603050405020304" pitchFamily="18" charset="0"/>
              </a:rPr>
              <a:t>Analyze</a:t>
            </a:r>
            <a:r>
              <a:rPr lang="en-IN" sz="1000" dirty="0">
                <a:latin typeface="Times New Roman" panose="02020603050405020304" pitchFamily="18" charset="0"/>
                <a:cs typeface="Times New Roman" panose="02020603050405020304" pitchFamily="18" charset="0"/>
              </a:rPr>
              <a:t> ground-level bridge photographs to help identify visible defects, such as cracks and concrete surface damage, for professional review.</a:t>
            </a:r>
          </a:p>
          <a:p>
            <a:r>
              <a:rPr lang="en-IN" sz="1000" dirty="0">
                <a:latin typeface="Times New Roman" panose="02020603050405020304" pitchFamily="18" charset="0"/>
                <a:cs typeface="Times New Roman" panose="02020603050405020304" pitchFamily="18" charset="0"/>
              </a:rPr>
              <a:t>🗺️ 3. Smart Monitoring Dashboard</a:t>
            </a:r>
          </a:p>
          <a:p>
            <a:pPr marL="0" indent="0">
              <a:buNone/>
            </a:pPr>
            <a:r>
              <a:rPr lang="en-IN" sz="1000" dirty="0">
                <a:latin typeface="Times New Roman" panose="02020603050405020304" pitchFamily="18" charset="0"/>
                <a:cs typeface="Times New Roman" panose="02020603050405020304" pitchFamily="18" charset="0"/>
              </a:rPr>
              <a:t>Display bridge locations, observations, inspection history, priority levels, and maintenance updates in one centralized interface.</a:t>
            </a:r>
          </a:p>
          <a:p>
            <a:r>
              <a:rPr lang="en-IN" sz="1000" dirty="0">
                <a:latin typeface="Times New Roman" panose="02020603050405020304" pitchFamily="18" charset="0"/>
                <a:cs typeface="Times New Roman" panose="02020603050405020304" pitchFamily="18" charset="0"/>
              </a:rPr>
              <a:t>🚙 4. Autonomous Repair Vehicle Simulation</a:t>
            </a:r>
          </a:p>
          <a:p>
            <a:r>
              <a:rPr lang="en-IN" sz="1000" dirty="0">
                <a:latin typeface="Times New Roman" panose="02020603050405020304" pitchFamily="18" charset="0"/>
                <a:cs typeface="Times New Roman" panose="02020603050405020304" pitchFamily="18" charset="0"/>
              </a:rPr>
              <a:t>Demonstrate a simulated vehicle workflow that receives an approved maintenance task, travels to a designated site, and records the task status. Human authorization is required before repair actions.</a:t>
            </a:r>
          </a:p>
          <a:p>
            <a:r>
              <a:rPr lang="en-IN" sz="1000" dirty="0">
                <a:latin typeface="Times New Roman" panose="02020603050405020304" pitchFamily="18" charset="0"/>
                <a:cs typeface="Times New Roman" panose="02020603050405020304" pitchFamily="18" charset="0"/>
              </a:rPr>
              <a:t>✅ 5. Repair Verification and Notifications</a:t>
            </a:r>
          </a:p>
          <a:p>
            <a:r>
              <a:rPr lang="en-IN" sz="1000" dirty="0">
                <a:latin typeface="Times New Roman" panose="02020603050405020304" pitchFamily="18" charset="0"/>
                <a:cs typeface="Times New Roman" panose="02020603050405020304" pitchFamily="18" charset="0"/>
              </a:rPr>
              <a:t>Store post-repair photographs, update job status, and notify authorized reviewers when verification is pending or further inspection is required.</a:t>
            </a:r>
          </a:p>
          <a:p>
            <a:endParaRPr lang="en-US" sz="1000" dirty="0">
              <a:latin typeface="Times New Roman" panose="02020603050405020304" pitchFamily="18" charset="0"/>
              <a:cs typeface="Times New Roman" panose="02020603050405020304" pitchFamily="18" charset="0"/>
            </a:endParaRPr>
          </a:p>
        </p:txBody>
      </p:sp>
      <p:pic>
        <p:nvPicPr>
          <p:cNvPr id="4" name="Picture 3" descr="L’Agence spatiale européenne confie à Thales Alenia Space l’étude de la mission SIRIUS de surveillance des îlots de chaleur urbains depuis l’espace | Thales Alenia Space">
            <a:extLst>
              <a:ext uri="{FF2B5EF4-FFF2-40B4-BE49-F238E27FC236}">
                <a16:creationId xmlns:a16="http://schemas.microsoft.com/office/drawing/2014/main" id="{77D8BBEF-34C1-B073-7221-F4DE799381D1}"/>
              </a:ext>
            </a:extLst>
          </p:cNvPr>
          <p:cNvPicPr>
            <a:picLocks noChangeAspect="1"/>
          </p:cNvPicPr>
          <p:nvPr/>
        </p:nvPicPr>
        <p:blipFill>
          <a:blip r:embed="rId5"/>
          <a:stretch>
            <a:fillRect/>
          </a:stretch>
        </p:blipFill>
        <p:spPr>
          <a:xfrm>
            <a:off x="9360568" y="2162745"/>
            <a:ext cx="1596189" cy="973562"/>
          </a:xfrm>
          <a:prstGeom prst="rect">
            <a:avLst/>
          </a:prstGeom>
        </p:spPr>
      </p:pic>
      <p:pic>
        <p:nvPicPr>
          <p:cNvPr id="5" name="Picture 4" descr="Artificial Intelligence &amp; Risk (AIR) Laboratory | HKUST">
            <a:extLst>
              <a:ext uri="{FF2B5EF4-FFF2-40B4-BE49-F238E27FC236}">
                <a16:creationId xmlns:a16="http://schemas.microsoft.com/office/drawing/2014/main" id="{3EA0E224-A917-EE43-E3C8-85534FBB5626}"/>
              </a:ext>
            </a:extLst>
          </p:cNvPr>
          <p:cNvPicPr>
            <a:picLocks noChangeAspect="1"/>
          </p:cNvPicPr>
          <p:nvPr/>
        </p:nvPicPr>
        <p:blipFill>
          <a:blip r:embed="rId6"/>
          <a:stretch>
            <a:fillRect/>
          </a:stretch>
        </p:blipFill>
        <p:spPr>
          <a:xfrm>
            <a:off x="9746785" y="5712084"/>
            <a:ext cx="1361164" cy="1013258"/>
          </a:xfrm>
          <a:prstGeom prst="rect">
            <a:avLst/>
          </a:prstGeom>
        </p:spPr>
      </p:pic>
      <p:pic>
        <p:nvPicPr>
          <p:cNvPr id="8" name="Picture 7" descr="FieldInspect - Engineering and Env. Site Assistant">
            <a:extLst>
              <a:ext uri="{FF2B5EF4-FFF2-40B4-BE49-F238E27FC236}">
                <a16:creationId xmlns:a16="http://schemas.microsoft.com/office/drawing/2014/main" id="{845347F4-0F88-A29C-4A39-96C026E7C89F}"/>
              </a:ext>
            </a:extLst>
          </p:cNvPr>
          <p:cNvPicPr>
            <a:picLocks noChangeAspect="1"/>
          </p:cNvPicPr>
          <p:nvPr/>
        </p:nvPicPr>
        <p:blipFill>
          <a:blip r:embed="rId7"/>
          <a:stretch>
            <a:fillRect/>
          </a:stretch>
        </p:blipFill>
        <p:spPr>
          <a:xfrm>
            <a:off x="10257418" y="3598961"/>
            <a:ext cx="1398678" cy="1048704"/>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72042" y="464021"/>
            <a:ext cx="10969200" cy="705600"/>
          </a:xfrm>
        </p:spPr>
        <p:txBody>
          <a:bodyPr/>
          <a:lstStyle/>
          <a:p>
            <a:r>
              <a:rPr lang="en-US" dirty="0"/>
              <a:t>System workflow/Architecture:</a:t>
            </a:r>
          </a:p>
        </p:txBody>
      </p:sp>
      <p:sp>
        <p:nvSpPr>
          <p:cNvPr id="3" name="Content Placeholder 2"/>
          <p:cNvSpPr>
            <a:spLocks noGrp="1"/>
          </p:cNvSpPr>
          <p:nvPr>
            <p:ph idx="1"/>
            <p:custDataLst>
              <p:tags r:id="rId3"/>
            </p:custDataLst>
          </p:nvPr>
        </p:nvSpPr>
        <p:spPr>
          <a:xfrm>
            <a:off x="472042" y="1530505"/>
            <a:ext cx="10969200" cy="4759200"/>
          </a:xfrm>
        </p:spPr>
        <p:txBody>
          <a:bodyPr>
            <a:noAutofit/>
          </a:bodyPr>
          <a:lstStyle/>
          <a:p>
            <a:pPr marL="0" indent="0">
              <a:buNone/>
            </a:pPr>
            <a:r>
              <a:rPr lang="en-IN" sz="2000" b="1" dirty="0" err="1"/>
              <a:t>ThermalPulse</a:t>
            </a:r>
            <a:r>
              <a:rPr lang="en-IN" sz="2000" dirty="0"/>
              <a:t> follows a structured workflow that transforms infrastructure data into actionable inspection and maintenance information. First, satellite-derived thermal data and ground-level bridge images are collected. The data is processed using geospatial techniques and AI-assisted image analysis to identify unusual thermal patterns and potential visible defects. The results are displayed on an interactive dashboard, where bridges can be prioritized for professional inspection. After an engineer reviews and authorizes the maintenance task, a simulated autonomous repair vehicle demonstrates the assigned task and updates its progress. Finally, post-repair evidence is recorded, verification status is updated, and notifications are generated for relevant users. The system uses a React-based frontend, a Python </a:t>
            </a:r>
            <a:r>
              <a:rPr lang="en-IN" sz="2000" dirty="0" err="1"/>
              <a:t>FastAPI</a:t>
            </a:r>
            <a:r>
              <a:rPr lang="en-IN" sz="2000" dirty="0"/>
              <a:t> backend, AI and geospatial processing modules, and a PostgreSQL/</a:t>
            </a:r>
            <a:r>
              <a:rPr lang="en-IN" sz="2000" dirty="0" err="1"/>
              <a:t>PostGIS</a:t>
            </a:r>
            <a:r>
              <a:rPr lang="en-IN" sz="2000" dirty="0"/>
              <a:t> database to support the workflow.</a:t>
            </a:r>
            <a:endParaRPr lang="en-US" sz="2000" b="1"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58694" y="439958"/>
            <a:ext cx="10969200" cy="705600"/>
          </a:xfrm>
        </p:spPr>
        <p:txBody>
          <a:bodyPr/>
          <a:lstStyle/>
          <a:p>
            <a:r>
              <a:rPr lang="en-IN" b="1" dirty="0"/>
              <a:t>💻 </a:t>
            </a:r>
            <a:r>
              <a:rPr lang="en-US" dirty="0"/>
              <a:t>Technology Stack:</a:t>
            </a:r>
          </a:p>
        </p:txBody>
      </p:sp>
      <p:sp>
        <p:nvSpPr>
          <p:cNvPr id="3" name="Content Placeholder 2"/>
          <p:cNvSpPr>
            <a:spLocks noGrp="1"/>
          </p:cNvSpPr>
          <p:nvPr>
            <p:ph idx="1"/>
            <p:custDataLst>
              <p:tags r:id="rId3"/>
            </p:custDataLst>
          </p:nvPr>
        </p:nvSpPr>
        <p:spPr>
          <a:xfrm>
            <a:off x="258694" y="1450294"/>
            <a:ext cx="11628506" cy="5407706"/>
          </a:xfrm>
        </p:spPr>
        <p:txBody>
          <a:bodyPr>
            <a:normAutofit/>
          </a:bodyPr>
          <a:lstStyle/>
          <a:p>
            <a:pPr marL="0" indent="0">
              <a:buNone/>
            </a:pPr>
            <a:r>
              <a:rPr lang="en-IN" sz="2000" dirty="0" err="1"/>
              <a:t>ThermalPulse</a:t>
            </a:r>
            <a:r>
              <a:rPr lang="en-IN" sz="2000" dirty="0"/>
              <a:t> uses a modern combination of web development, artificial intelligence, and geospatial technologies to support intelligent bridge monitoring. </a:t>
            </a:r>
            <a:r>
              <a:rPr lang="en-IN" sz="2000" b="1" dirty="0"/>
              <a:t>React.js, TypeScript, and Tailwind CSS</a:t>
            </a:r>
            <a:r>
              <a:rPr lang="en-IN" sz="2000" dirty="0"/>
              <a:t> are used to develop a responsive and interactive user interface, while </a:t>
            </a:r>
            <a:r>
              <a:rPr lang="en-IN" sz="2000" b="1" dirty="0"/>
              <a:t>Python and </a:t>
            </a:r>
            <a:r>
              <a:rPr lang="en-IN" sz="2000" b="1" dirty="0" err="1"/>
              <a:t>FastAPI</a:t>
            </a:r>
            <a:r>
              <a:rPr lang="en-IN" sz="2000" dirty="0"/>
              <a:t> handle backend services and data processing. </a:t>
            </a:r>
            <a:r>
              <a:rPr lang="en-IN" sz="2000" b="1" dirty="0"/>
              <a:t>AI and Machine Learning libraries such as OpenCV and scikit-learn</a:t>
            </a:r>
            <a:r>
              <a:rPr lang="en-IN" sz="2000" dirty="0"/>
              <a:t> support image analysis and anomaly screening. </a:t>
            </a:r>
            <a:r>
              <a:rPr lang="en-IN" sz="2000" b="1" dirty="0"/>
              <a:t>Landsat satellite data, </a:t>
            </a:r>
            <a:r>
              <a:rPr lang="en-IN" sz="2000" b="1" dirty="0" err="1"/>
              <a:t>Rasterio</a:t>
            </a:r>
            <a:r>
              <a:rPr lang="en-IN" sz="2000" b="1" dirty="0"/>
              <a:t>, and </a:t>
            </a:r>
            <a:r>
              <a:rPr lang="en-IN" sz="2000" b="1" dirty="0" err="1"/>
              <a:t>GeoPandas</a:t>
            </a:r>
            <a:r>
              <a:rPr lang="en-IN" sz="2000" dirty="0"/>
              <a:t> enable thermal-data processing and geospatial analysis. </a:t>
            </a:r>
            <a:r>
              <a:rPr lang="en-IN" sz="2000" b="1" dirty="0"/>
              <a:t>React Leaflet and OpenStreetMap</a:t>
            </a:r>
            <a:r>
              <a:rPr lang="en-IN" sz="2000" dirty="0"/>
              <a:t> provide interactive bridge maps, while </a:t>
            </a:r>
            <a:r>
              <a:rPr lang="en-IN" sz="2000" b="1" dirty="0"/>
              <a:t>PostgreSQL with </a:t>
            </a:r>
            <a:r>
              <a:rPr lang="en-IN" sz="2000" b="1" dirty="0" err="1"/>
              <a:t>PostGIS</a:t>
            </a:r>
            <a:r>
              <a:rPr lang="en-IN" sz="2000" b="1" dirty="0"/>
              <a:t> or </a:t>
            </a:r>
            <a:r>
              <a:rPr lang="en-IN" sz="2000" b="1" dirty="0" err="1"/>
              <a:t>Supabase</a:t>
            </a:r>
            <a:r>
              <a:rPr lang="en-IN" sz="2000" dirty="0"/>
              <a:t> stores bridge details, inspection records, and maintenance information. </a:t>
            </a:r>
            <a:r>
              <a:rPr lang="en-IN" sz="2000" b="1" dirty="0"/>
              <a:t>Recharts</a:t>
            </a:r>
            <a:r>
              <a:rPr lang="en-IN" sz="2000" dirty="0"/>
              <a:t> visualizes inspection trends, and WebSocket communication can provide live dashboard updates. The prototype also includes a simulated autonomous repair vehicle to demonstrate task assignment, progress tracking, and repair verification.</a:t>
            </a:r>
          </a:p>
          <a:p>
            <a:pPr marL="0" indent="0">
              <a:buNone/>
            </a:pPr>
            <a:endParaRPr lang="en-US"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t>Prototype/Working demo:</a:t>
            </a:r>
          </a:p>
        </p:txBody>
      </p:sp>
      <p:pic>
        <p:nvPicPr>
          <p:cNvPr id="5" name="Content Placeholder 4">
            <a:extLst>
              <a:ext uri="{FF2B5EF4-FFF2-40B4-BE49-F238E27FC236}">
                <a16:creationId xmlns:a16="http://schemas.microsoft.com/office/drawing/2014/main" id="{914635A8-9D3F-7FED-0C41-640569B6C66E}"/>
              </a:ext>
            </a:extLst>
          </p:cNvPr>
          <p:cNvPicPr>
            <a:picLocks noGrp="1" noChangeAspect="1"/>
          </p:cNvPicPr>
          <p:nvPr>
            <p:ph idx="1"/>
          </p:nvPr>
        </p:nvPicPr>
        <p:blipFill>
          <a:blip r:embed="rId4"/>
          <a:stretch>
            <a:fillRect/>
          </a:stretch>
        </p:blipFill>
        <p:spPr>
          <a:xfrm>
            <a:off x="937867" y="1631616"/>
            <a:ext cx="9377206" cy="4855431"/>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16494" y="231411"/>
            <a:ext cx="10969200" cy="705600"/>
          </a:xfrm>
        </p:spPr>
        <p:txBody>
          <a:bodyPr/>
          <a:lstStyle/>
          <a:p>
            <a:r>
              <a:rPr lang="en-US" dirty="0"/>
              <a:t>Innovation/USP:</a:t>
            </a:r>
          </a:p>
        </p:txBody>
      </p:sp>
      <p:sp>
        <p:nvSpPr>
          <p:cNvPr id="3" name="Content Placeholder 2"/>
          <p:cNvSpPr>
            <a:spLocks noGrp="1"/>
          </p:cNvSpPr>
          <p:nvPr>
            <p:ph idx="1"/>
            <p:custDataLst>
              <p:tags r:id="rId3"/>
            </p:custDataLst>
          </p:nvPr>
        </p:nvSpPr>
        <p:spPr>
          <a:xfrm>
            <a:off x="416494" y="1185600"/>
            <a:ext cx="11359011" cy="5303432"/>
          </a:xfrm>
        </p:spPr>
        <p:txBody>
          <a:bodyPr>
            <a:normAutofit fontScale="47500" lnSpcReduction="20000"/>
          </a:bodyPr>
          <a:lstStyle/>
          <a:p>
            <a:pPr marL="0" indent="0">
              <a:buNone/>
            </a:pPr>
            <a:endParaRPr lang="en-IN" dirty="0"/>
          </a:p>
          <a:p>
            <a:pPr marL="0" indent="0">
              <a:buNone/>
            </a:pPr>
            <a:r>
              <a:rPr lang="en-IN" sz="2500" dirty="0" err="1"/>
              <a:t>ThermalPulse</a:t>
            </a:r>
            <a:r>
              <a:rPr lang="en-IN" sz="2500" dirty="0"/>
              <a:t> introduces an integrated, AI-assisted approach to bridge infrastructure monitoring by combining satellite-derived thermal observations, ground-level image analysis, geospatial visualization, and maintenance tracking in a single platform.</a:t>
            </a:r>
          </a:p>
          <a:p>
            <a:r>
              <a:rPr lang="en-IN" sz="2500" dirty="0"/>
              <a:t>🛰️ </a:t>
            </a:r>
            <a:r>
              <a:rPr lang="en-IN" sz="2500" b="1" dirty="0"/>
              <a:t>1. Satellite-Assisted Early Screening:</a:t>
            </a:r>
            <a:r>
              <a:rPr lang="en-IN" sz="2500" dirty="0"/>
              <a:t> Uses satellite thermal data to flag unusual surface-temperature patterns that may require further investigation.</a:t>
            </a:r>
          </a:p>
          <a:p>
            <a:r>
              <a:rPr lang="en-IN" sz="2500" dirty="0"/>
              <a:t>🤖 </a:t>
            </a:r>
            <a:r>
              <a:rPr lang="en-IN" sz="2500" b="1" dirty="0"/>
              <a:t>2. AI-Powered Visual Assessment:</a:t>
            </a:r>
            <a:r>
              <a:rPr lang="en-IN" sz="2500" dirty="0"/>
              <a:t> </a:t>
            </a:r>
            <a:r>
              <a:rPr lang="en-IN" sz="2500" dirty="0" err="1"/>
              <a:t>Analyzes</a:t>
            </a:r>
            <a:r>
              <a:rPr lang="en-IN" sz="2500" dirty="0"/>
              <a:t> ground-level bridge images to help identify visible defects and support inspection prioritization.</a:t>
            </a:r>
          </a:p>
          <a:p>
            <a:r>
              <a:rPr lang="en-IN" sz="2500" dirty="0"/>
              <a:t>🗺️ </a:t>
            </a:r>
            <a:r>
              <a:rPr lang="en-IN" sz="2500" b="1" dirty="0"/>
              <a:t>3. Unified Monitoring Dashboard:</a:t>
            </a:r>
            <a:r>
              <a:rPr lang="en-IN" sz="2500" dirty="0"/>
              <a:t> Combines bridge locations, inspection findings, risk indicators, maintenance records, and progress updates in one interface.</a:t>
            </a:r>
          </a:p>
          <a:p>
            <a:r>
              <a:rPr lang="en-IN" sz="2500" dirty="0"/>
              <a:t>🚙 </a:t>
            </a:r>
            <a:r>
              <a:rPr lang="en-IN" sz="2500" b="1" dirty="0"/>
              <a:t>4. Autonomous Repair Workflow Simulation:</a:t>
            </a:r>
            <a:r>
              <a:rPr lang="en-IN" sz="2500" dirty="0"/>
              <a:t> Demonstrates how a repair vehicle could receive an authorized task and report its progress through a simulated workflow.</a:t>
            </a:r>
          </a:p>
          <a:p>
            <a:r>
              <a:rPr lang="en-IN" sz="2500" dirty="0"/>
              <a:t>✅ </a:t>
            </a:r>
            <a:r>
              <a:rPr lang="en-IN" sz="2500" b="1" dirty="0"/>
              <a:t>5. Closed-Loop Repair Verification:</a:t>
            </a:r>
            <a:r>
              <a:rPr lang="en-IN" sz="2500" dirty="0"/>
              <a:t> Connects inspection findings with repair records and post-repair evidence, allowing authorized reviewers to track whether a repair has been verified or requires further assessment.</a:t>
            </a:r>
          </a:p>
          <a:p>
            <a:r>
              <a:rPr lang="en-IN" sz="2500" b="1" dirty="0"/>
              <a:t>🌟 Unique Selling Proposition (USP)</a:t>
            </a:r>
          </a:p>
          <a:p>
            <a:r>
              <a:rPr lang="en-IN" sz="2500" dirty="0"/>
              <a:t>Unlike a standalone inspection or image-analysis tool, </a:t>
            </a:r>
            <a:r>
              <a:rPr lang="en-IN" sz="2500" dirty="0" err="1"/>
              <a:t>ThermalPulse</a:t>
            </a:r>
            <a:r>
              <a:rPr lang="en-IN" sz="2500" dirty="0"/>
              <a:t> aims to connect the entire infrastructure maintenance workflow—from satellite-assisted screening and AI-supported assessment to maintenance coordination and documented repair verification. Its key differentiator is the integration of geospatial intelligence, AI-assisted inspection, and accountable maintenance tracking within one platform.</a:t>
            </a:r>
          </a:p>
          <a:p>
            <a:r>
              <a:rPr lang="en-IN" sz="2500" b="1" dirty="0"/>
              <a:t>🎯 Innovation Impact</a:t>
            </a:r>
          </a:p>
          <a:p>
            <a:r>
              <a:rPr lang="en-IN" sz="2500" dirty="0" err="1"/>
              <a:t>ThermalPulse</a:t>
            </a:r>
            <a:r>
              <a:rPr lang="en-IN" sz="2500" dirty="0"/>
              <a:t> aims to support proactive inspection planning, improve maintenance visibility, reduce fragmented record-keeping, and contribute to more resilient infrastructure management in alignment with SDG 9.</a:t>
            </a:r>
          </a:p>
          <a:p>
            <a:endParaRPr lang="en-US"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763829" y="190099"/>
            <a:ext cx="10515600" cy="978408"/>
          </a:xfrm>
        </p:spPr>
        <p:txBody>
          <a:bodyPr/>
          <a:lstStyle/>
          <a:p>
            <a:r>
              <a:rPr lang="en-US" dirty="0"/>
              <a:t>Impact:</a:t>
            </a:r>
          </a:p>
        </p:txBody>
      </p:sp>
      <p:sp>
        <p:nvSpPr>
          <p:cNvPr id="3" name="Content Placeholder 2"/>
          <p:cNvSpPr>
            <a:spLocks noGrp="1"/>
          </p:cNvSpPr>
          <p:nvPr>
            <p:ph idx="1"/>
            <p:custDataLst>
              <p:tags r:id="rId3"/>
            </p:custDataLst>
          </p:nvPr>
        </p:nvSpPr>
        <p:spPr>
          <a:xfrm>
            <a:off x="451006" y="1321649"/>
            <a:ext cx="11420151" cy="5346252"/>
          </a:xfrm>
        </p:spPr>
        <p:txBody>
          <a:bodyPr>
            <a:normAutofit fontScale="85000" lnSpcReduction="10000"/>
          </a:bodyPr>
          <a:lstStyle/>
          <a:p>
            <a:r>
              <a:rPr lang="en-IN" sz="1500" b="1" dirty="0"/>
              <a:t>🌉 Social, Environmental and Technological Impact</a:t>
            </a:r>
          </a:p>
          <a:p>
            <a:r>
              <a:rPr lang="en-IN" sz="1500" dirty="0" err="1"/>
              <a:t>ThermalPulse</a:t>
            </a:r>
            <a:r>
              <a:rPr lang="en-IN" sz="1500" dirty="0"/>
              <a:t> aims to improve bridge infrastructure monitoring through AI-assisted analysis, satellite-derived thermal observations, and digital maintenance management.</a:t>
            </a:r>
          </a:p>
          <a:p>
            <a:r>
              <a:rPr lang="en-IN" sz="1500" dirty="0"/>
              <a:t>🛡️ </a:t>
            </a:r>
            <a:r>
              <a:rPr lang="en-IN" sz="1500" b="1" dirty="0"/>
              <a:t>1. Public Safety:</a:t>
            </a:r>
            <a:r>
              <a:rPr lang="en-IN" sz="1500" dirty="0"/>
              <a:t> Helps authorities identify potential infrastructure concerns and prioritize bridges for professional inspection.</a:t>
            </a:r>
          </a:p>
          <a:p>
            <a:r>
              <a:rPr lang="en-IN" sz="1500" dirty="0"/>
              <a:t>⏱️ </a:t>
            </a:r>
            <a:r>
              <a:rPr lang="en-IN" sz="1500" b="1" dirty="0"/>
              <a:t>2. Time Efficiency:</a:t>
            </a:r>
            <a:r>
              <a:rPr lang="en-IN" sz="1500" dirty="0"/>
              <a:t> Supports faster review of inspection information and helps maintenance teams organize their work more effectively.</a:t>
            </a:r>
          </a:p>
          <a:p>
            <a:r>
              <a:rPr lang="en-IN" sz="1500" dirty="0"/>
              <a:t>💰 </a:t>
            </a:r>
            <a:r>
              <a:rPr lang="en-IN" sz="1500" b="1" dirty="0"/>
              <a:t>3. Resource Optimization:</a:t>
            </a:r>
            <a:r>
              <a:rPr lang="en-IN" sz="1500" dirty="0"/>
              <a:t> Helps authorities prioritize inspection and maintenance resources based on documented observations and inspection needs.</a:t>
            </a:r>
          </a:p>
          <a:p>
            <a:r>
              <a:rPr lang="en-IN" sz="1500" dirty="0"/>
              <a:t>🏙️ </a:t>
            </a:r>
            <a:r>
              <a:rPr lang="en-IN" sz="1500" b="1" dirty="0"/>
              <a:t>4. Community Benefits:</a:t>
            </a:r>
            <a:r>
              <a:rPr lang="en-IN" sz="1500" dirty="0"/>
              <a:t> Supports more reliable transportation infrastructure for commuters, businesses, and local communities through proactive maintenance planning.</a:t>
            </a:r>
          </a:p>
          <a:p>
            <a:r>
              <a:rPr lang="en-IN" sz="1500" dirty="0"/>
              <a:t>🌱 </a:t>
            </a:r>
            <a:r>
              <a:rPr lang="en-IN" sz="1500" b="1" dirty="0"/>
              <a:t>5. Environmental Resilience:</a:t>
            </a:r>
            <a:r>
              <a:rPr lang="en-IN" sz="1500" dirty="0"/>
              <a:t> Supports the monitoring of infrastructure exposed to environmental conditions and encourages evidence-based maintenance planning.</a:t>
            </a:r>
          </a:p>
          <a:p>
            <a:r>
              <a:rPr lang="en-IN" sz="1500" dirty="0"/>
              <a:t>🤖 </a:t>
            </a:r>
            <a:r>
              <a:rPr lang="en-IN" sz="1500" b="1" dirty="0"/>
              <a:t>6. Technological Advancement:</a:t>
            </a:r>
            <a:r>
              <a:rPr lang="en-IN" sz="1500" dirty="0"/>
              <a:t> Demonstrates the integration of satellite data, AI-assisted image analysis, geospatial mapping, and simulated autonomous repair workflows.</a:t>
            </a:r>
          </a:p>
          <a:p>
            <a:r>
              <a:rPr lang="en-IN" sz="1500" dirty="0"/>
              <a:t>📋 </a:t>
            </a:r>
            <a:r>
              <a:rPr lang="en-IN" sz="1500" b="1" dirty="0"/>
              <a:t>7. Improved Accountability:</a:t>
            </a:r>
            <a:r>
              <a:rPr lang="en-IN" sz="1500" dirty="0"/>
              <a:t> Maintains digital records of inspection findings, maintenance activities, and post-repair verification outcomes.</a:t>
            </a:r>
          </a:p>
          <a:p>
            <a:r>
              <a:rPr lang="en-IN" sz="1500" b="1" dirty="0"/>
              <a:t>🎯 Long-Term Impact</a:t>
            </a:r>
          </a:p>
          <a:p>
            <a:pPr marL="0" indent="0">
              <a:buNone/>
            </a:pPr>
            <a:r>
              <a:rPr lang="en-IN" sz="1500" dirty="0" err="1"/>
              <a:t>ThermalPulse</a:t>
            </a:r>
            <a:r>
              <a:rPr lang="en-IN" sz="1500" dirty="0"/>
              <a:t> aims to support a shift from fragmented, reactive maintenance processes toward proactive, data-driven infrastructure management. By connecting screening, inspection prioritization, maintenance tracking, and repair verification, the platform contributes to the development of more reliable and resilient infrastructure in alignment with SDG 9, with supporting links to SDG 11 and SDG 13.</a:t>
            </a:r>
          </a:p>
          <a:p>
            <a:endParaRPr lang="en-US" dirty="0"/>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a:t>Feasability&amp;Scalability:</a:t>
            </a:r>
          </a:p>
        </p:txBody>
      </p:sp>
      <p:sp>
        <p:nvSpPr>
          <p:cNvPr id="3" name="Content Placeholder 2"/>
          <p:cNvSpPr>
            <a:spLocks noGrp="1"/>
          </p:cNvSpPr>
          <p:nvPr>
            <p:ph idx="1"/>
            <p:custDataLst>
              <p:tags r:id="rId3"/>
            </p:custDataLst>
          </p:nvPr>
        </p:nvSpPr>
        <p:spPr>
          <a:xfrm>
            <a:off x="608399" y="1490399"/>
            <a:ext cx="11375053" cy="5311453"/>
          </a:xfrm>
        </p:spPr>
        <p:txBody>
          <a:bodyPr>
            <a:normAutofit fontScale="25000" lnSpcReduction="20000"/>
          </a:bodyPr>
          <a:lstStyle/>
          <a:p>
            <a:pPr marL="0" indent="0">
              <a:buNone/>
            </a:pPr>
            <a:r>
              <a:rPr lang="en-IN" sz="4200" dirty="0" err="1"/>
              <a:t>ThermalPulse</a:t>
            </a:r>
            <a:r>
              <a:rPr lang="en-IN" sz="4200" dirty="0"/>
              <a:t> is feasible as a hackathon prototype using existing web development frameworks, open satellite datasets, AI libraries, and geospatial tools.</a:t>
            </a:r>
          </a:p>
          <a:p>
            <a:r>
              <a:rPr lang="en-IN" sz="4200" dirty="0"/>
              <a:t> </a:t>
            </a:r>
            <a:r>
              <a:rPr lang="en-IN" sz="4200" b="1" dirty="0"/>
              <a:t>Technical Feasibility:</a:t>
            </a:r>
            <a:r>
              <a:rPr lang="en-IN" sz="4200" dirty="0"/>
              <a:t> React, Python </a:t>
            </a:r>
            <a:r>
              <a:rPr lang="en-IN" sz="4200" dirty="0" err="1"/>
              <a:t>FastAPI</a:t>
            </a:r>
            <a:r>
              <a:rPr lang="en-IN" sz="4200" dirty="0"/>
              <a:t>, OpenCV, and geospatial libraries can be used to develop the monitoring dashboard, </a:t>
            </a:r>
            <a:r>
              <a:rPr lang="en-IN" sz="4200" dirty="0" err="1"/>
              <a:t>analyze</a:t>
            </a:r>
            <a:r>
              <a:rPr lang="en-IN" sz="4200" dirty="0"/>
              <a:t> inspection images, and process satellite-derived thermal observations.</a:t>
            </a:r>
          </a:p>
          <a:p>
            <a:r>
              <a:rPr lang="en-IN" sz="4200" dirty="0"/>
              <a:t> </a:t>
            </a:r>
            <a:r>
              <a:rPr lang="en-IN" sz="4200" b="1" dirty="0"/>
              <a:t>Economic Feasibility:</a:t>
            </a:r>
            <a:r>
              <a:rPr lang="en-IN" sz="4200" dirty="0"/>
              <a:t> Open-source software and publicly available satellite datasets can reduce initial development costs. Basic cloud hosting and database services can support the prototype.</a:t>
            </a:r>
          </a:p>
          <a:p>
            <a:r>
              <a:rPr lang="en-IN" sz="4200" b="1" dirty="0"/>
              <a:t>Operational Feasibility:</a:t>
            </a:r>
            <a:r>
              <a:rPr lang="en-IN" sz="4200" dirty="0"/>
              <a:t> A centralized dashboard can help engineers review potential concerns, prioritize inspections, and manage maintenance records. The initial prototype can demonstrate the autonomous repair vehicle through simulation without requiring physical robotics hardware.</a:t>
            </a:r>
          </a:p>
          <a:p>
            <a:r>
              <a:rPr lang="en-IN" sz="4200" dirty="0"/>
              <a:t> </a:t>
            </a:r>
            <a:r>
              <a:rPr lang="en-IN" sz="4200" b="1" dirty="0"/>
              <a:t>Implementation Feasibility:</a:t>
            </a:r>
            <a:r>
              <a:rPr lang="en-IN" sz="4200" dirty="0"/>
              <a:t> The system can be developed incrementally, beginning with sample bridge data and dashboard functions, followed by satellite-data processing, image analysis, maintenance tracking, and repair verification.</a:t>
            </a:r>
          </a:p>
          <a:p>
            <a:r>
              <a:rPr lang="en-IN" sz="4200" b="1" dirty="0"/>
              <a:t>🚀 Scalability</a:t>
            </a:r>
          </a:p>
          <a:p>
            <a:r>
              <a:rPr lang="en-IN" sz="4200" dirty="0"/>
              <a:t> </a:t>
            </a:r>
            <a:r>
              <a:rPr lang="en-IN" sz="4200" b="1" dirty="0"/>
              <a:t>Geographical Expansion:</a:t>
            </a:r>
            <a:r>
              <a:rPr lang="en-IN" sz="4200" dirty="0"/>
              <a:t> The platform can be extended from a small bridge demonstration to larger regional infrastructure networks by adding bridge records and geospatial datasets.</a:t>
            </a:r>
          </a:p>
          <a:p>
            <a:r>
              <a:rPr lang="en-IN" sz="4200" dirty="0"/>
              <a:t> </a:t>
            </a:r>
            <a:r>
              <a:rPr lang="en-IN" sz="4200" b="1" dirty="0"/>
              <a:t>Multi-Source Integration:</a:t>
            </a:r>
            <a:r>
              <a:rPr lang="en-IN" sz="4200" dirty="0"/>
              <a:t> Future versions can incorporate additional satellite observations, drone imagery, ground inspection photographs, and structural sensor data.</a:t>
            </a:r>
          </a:p>
          <a:p>
            <a:pPr marL="0" indent="0">
              <a:buNone/>
            </a:pPr>
            <a:r>
              <a:rPr lang="en-IN" sz="4200" dirty="0"/>
              <a:t> </a:t>
            </a:r>
            <a:r>
              <a:rPr lang="en-IN" sz="4200" b="1" dirty="0"/>
              <a:t>Advanced AI Integration:</a:t>
            </a:r>
            <a:r>
              <a:rPr lang="en-IN" sz="4200" dirty="0"/>
              <a:t> Models can be improved using validated inspection datasets to support more reliable identification and prioritization of potential defects.</a:t>
            </a:r>
          </a:p>
          <a:p>
            <a:r>
              <a:rPr lang="en-IN" sz="4200" dirty="0"/>
              <a:t> </a:t>
            </a:r>
            <a:r>
              <a:rPr lang="en-IN" sz="4200" b="1" dirty="0"/>
              <a:t>Cloud Deployment:</a:t>
            </a:r>
            <a:r>
              <a:rPr lang="en-IN" sz="4200" dirty="0"/>
              <a:t> Cloud infrastructure and scalable database services can support multiple users, larger datasets, and access across different locations.</a:t>
            </a:r>
          </a:p>
          <a:p>
            <a:r>
              <a:rPr lang="en-IN" sz="4200" dirty="0"/>
              <a:t> </a:t>
            </a:r>
            <a:r>
              <a:rPr lang="en-IN" sz="4200" b="1" dirty="0"/>
              <a:t>Institutional Adoption:</a:t>
            </a:r>
            <a:r>
              <a:rPr lang="en-IN" sz="4200" dirty="0"/>
              <a:t> The platform could be adapted for municipal corporations, highway authorities, infrastructure maintenance agencies, and engineering inspection teams.</a:t>
            </a:r>
          </a:p>
          <a:p>
            <a:r>
              <a:rPr lang="en-IN" sz="4200" b="1" dirty="0"/>
              <a:t>🎯 Future Growth</a:t>
            </a:r>
          </a:p>
          <a:p>
            <a:pPr marL="0" indent="0">
              <a:buNone/>
            </a:pPr>
            <a:r>
              <a:rPr lang="en-IN" sz="4200" dirty="0" err="1"/>
              <a:t>ThermalPulse</a:t>
            </a:r>
            <a:r>
              <a:rPr lang="en-IN" sz="4200" dirty="0"/>
              <a:t> can evolve from a demonstration platform into a field-tested infrastructure monitoring system through pilot projects, engineering validation, integration with existing maintenance systems, and carefully controlled automation. Real-world deployment would require reliable data, cybersecurity, professional oversight, and appropriate safety validation.</a:t>
            </a:r>
          </a:p>
          <a:p>
            <a:pPr marL="0" indent="0">
              <a:buNone/>
            </a:pPr>
            <a:endParaRPr lang="en-US"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287557" y="504126"/>
            <a:ext cx="10969200" cy="705600"/>
          </a:xfrm>
        </p:spPr>
        <p:txBody>
          <a:bodyPr>
            <a:normAutofit/>
          </a:bodyPr>
          <a:lstStyle/>
          <a:p>
            <a:r>
              <a:rPr lang="en-US"/>
              <a:t>Future Scope &amp; References:</a:t>
            </a:r>
          </a:p>
        </p:txBody>
      </p:sp>
      <p:sp>
        <p:nvSpPr>
          <p:cNvPr id="3" name="Content Placeholder 2"/>
          <p:cNvSpPr>
            <a:spLocks noGrp="1"/>
          </p:cNvSpPr>
          <p:nvPr>
            <p:ph idx="1"/>
            <p:custDataLst>
              <p:tags r:id="rId3"/>
            </p:custDataLst>
          </p:nvPr>
        </p:nvSpPr>
        <p:spPr>
          <a:xfrm>
            <a:off x="80211" y="1490400"/>
            <a:ext cx="12015535" cy="5367600"/>
          </a:xfrm>
        </p:spPr>
        <p:txBody>
          <a:bodyPr>
            <a:normAutofit fontScale="92500" lnSpcReduction="10000"/>
          </a:bodyPr>
          <a:lstStyle/>
          <a:p>
            <a:pPr>
              <a:buFont typeface="Wingdings" panose="05000000000000000000" pitchFamily="2" charset="2"/>
              <a:buChar char="v"/>
            </a:pPr>
            <a:r>
              <a:rPr lang="en-IN" dirty="0" err="1">
                <a:latin typeface="Times New Roman" panose="02020603050405020304" pitchFamily="18" charset="0"/>
                <a:cs typeface="Times New Roman" panose="02020603050405020304" pitchFamily="18" charset="0"/>
              </a:rPr>
              <a:t>ThermalPulse</a:t>
            </a:r>
            <a:r>
              <a:rPr lang="en-IN" dirty="0">
                <a:latin typeface="Times New Roman" panose="02020603050405020304" pitchFamily="18" charset="0"/>
                <a:cs typeface="Times New Roman" panose="02020603050405020304" pitchFamily="18" charset="0"/>
              </a:rPr>
              <a:t> can be further developed into a comprehensive infrastructure monitoring platform through the following enhancements:</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1. Real-Time and Multi-Source Monitoring: Integrate satellite imagery, drone photographs, and ground-level inspection data to improve bridge monitoring coverage.</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2. Advanced AI Models: Develop and validate computer vision models using verified bridge inspection images to improve the identification of visible defects.</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3. IoT Sensor Integration: Incorporate structural sensors that measure vibration, strain, and movement to provide additional information for engineering assessment.</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4. Autonomous Inspection and Repair Robotics: Extend the simulated vehicle into a physical robotic platform for controlled inspection and, in the future, validated repair tasks.</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5. Cloud-Based Deployment: Scale the application to support multiple bridges, regions, engineering teams, and infrastructure authorities.</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6. Predictive Maintenance and Alerts: Develop data-driven maintenance forecasting and notifications to help authorities plan inspections and allocate resources efficiently.</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7. Improved Repair Verification: Introduce standardized post-repair image capture, engineer approval, and digital maintenance records to track repair outcomes.</a:t>
            </a:r>
          </a:p>
          <a:p>
            <a:pPr>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References</a:t>
            </a: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1. Federal Highway Administration (FHWA) — National Bridge Inventory and Bridge Condition Data. </a:t>
            </a:r>
            <a:r>
              <a:rPr lang="en-IN" dirty="0">
                <a:latin typeface="Times New Roman" panose="02020603050405020304" pitchFamily="18" charset="0"/>
                <a:cs typeface="Times New Roman" panose="02020603050405020304" pitchFamily="18" charset="0"/>
                <a:hlinkClick r:id="rId5"/>
              </a:rPr>
              <a:t>https://www.fhwa.dot.gov/bridge/britab.cfm</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2. United States Geological Survey (USGS) — Landsat Collection 2 Surface Temperature. </a:t>
            </a:r>
            <a:r>
              <a:rPr lang="en-IN" dirty="0">
                <a:latin typeface="Times New Roman" panose="02020603050405020304" pitchFamily="18" charset="0"/>
                <a:cs typeface="Times New Roman" panose="02020603050405020304" pitchFamily="18" charset="0"/>
                <a:hlinkClick r:id="rId6"/>
              </a:rPr>
              <a:t>https://www.usgs.gov/landsat-missions/landsat-collection-2-surface-temperature</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3. Luo et al. (2023) — Computer Vision-Based Bridge Inspection and Monitoring: A Review. Sensors, 23(18), 7863. </a:t>
            </a:r>
            <a:r>
              <a:rPr lang="en-IN" dirty="0">
                <a:latin typeface="Times New Roman" panose="02020603050405020304" pitchFamily="18" charset="0"/>
                <a:cs typeface="Times New Roman" panose="02020603050405020304" pitchFamily="18" charset="0"/>
                <a:hlinkClick r:id="rId7"/>
              </a:rPr>
              <a:t>https://doi.org/10.3390/s23187863</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4. United Nations — Sustainable Development Goal 9: Industry, Innovation and Infrastructure. </a:t>
            </a:r>
            <a:r>
              <a:rPr lang="en-IN" dirty="0">
                <a:latin typeface="Times New Roman" panose="02020603050405020304" pitchFamily="18" charset="0"/>
                <a:cs typeface="Times New Roman" panose="02020603050405020304" pitchFamily="18" charset="0"/>
                <a:hlinkClick r:id="rId8"/>
              </a:rPr>
              <a:t>https://sdgs.un.org/goals/goal9</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5. OpenStreetMap — Collaborative Mapping Project. </a:t>
            </a:r>
            <a:r>
              <a:rPr lang="en-IN" dirty="0">
                <a:latin typeface="Times New Roman" panose="02020603050405020304" pitchFamily="18" charset="0"/>
                <a:cs typeface="Times New Roman" panose="02020603050405020304" pitchFamily="18" charset="0"/>
                <a:hlinkClick r:id="rId9"/>
              </a:rPr>
              <a:t>https://www.openstreetmap.org/</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6.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Documentation — Python Framework for Building APIs. </a:t>
            </a:r>
            <a:r>
              <a:rPr lang="en-IN" dirty="0">
                <a:latin typeface="Times New Roman" panose="02020603050405020304" pitchFamily="18" charset="0"/>
                <a:cs typeface="Times New Roman" panose="02020603050405020304" pitchFamily="18" charset="0"/>
                <a:hlinkClick r:id="rId10"/>
              </a:rPr>
              <a:t>https://fastapi.tiangolo.com/</a:t>
            </a:r>
            <a:endParaRPr lang="en-IN" dirty="0">
              <a:latin typeface="Times New Roman" panose="02020603050405020304" pitchFamily="18" charset="0"/>
              <a:cs typeface="Times New Roman" panose="02020603050405020304" pitchFamily="18" charset="0"/>
            </a:endParaRPr>
          </a:p>
          <a:p>
            <a:endParaRPr lang="en-US" dirty="0"/>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7E8BE7-E3B6-A9AE-D90A-E49FBD5E2A3C}"/>
              </a:ext>
            </a:extLst>
          </p:cNvPr>
          <p:cNvSpPr txBox="1"/>
          <p:nvPr/>
        </p:nvSpPr>
        <p:spPr>
          <a:xfrm>
            <a:off x="3625515" y="2037347"/>
            <a:ext cx="4659161" cy="1015663"/>
          </a:xfrm>
          <a:prstGeom prst="rect">
            <a:avLst/>
          </a:prstGeom>
          <a:noFill/>
        </p:spPr>
        <p:txBody>
          <a:bodyPr wrap="none" rtlCol="0">
            <a:spAutoFit/>
          </a:bodyPr>
          <a:lstStyle/>
          <a:p>
            <a:r>
              <a:rPr lang="en-US" sz="6000" dirty="0"/>
              <a:t>THANK YOU</a:t>
            </a:r>
            <a:endParaRPr lang="en-IN" sz="6000" dirty="0"/>
          </a:p>
        </p:txBody>
      </p:sp>
    </p:spTree>
    <p:extLst>
      <p:ext uri="{BB962C8B-B14F-4D97-AF65-F5344CB8AC3E}">
        <p14:creationId xmlns:p14="http://schemas.microsoft.com/office/powerpoint/2010/main" val="368506742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 id="{A3F6A081-B6B6-4005-A8B4-E4DB51F0D83A}" vid="{06B4A534-080E-4F92-B8E7-6D90CB76FF92}"/>
    </a:ext>
  </a:extLst>
</a:theme>
</file>

<file path=docProps/app.xml><?xml version="1.0" encoding="utf-8"?>
<Properties xmlns="http://schemas.openxmlformats.org/officeDocument/2006/extended-properties" xmlns:vt="http://schemas.openxmlformats.org/officeDocument/2006/docPropsVTypes">
  <Template>School Days</Template>
  <TotalTime>51</TotalTime>
  <Words>2510</Words>
  <Application>Microsoft Office PowerPoint</Application>
  <PresentationFormat>Widescreen</PresentationFormat>
  <Paragraphs>119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JasmineUPC</vt:lpstr>
      <vt:lpstr>Raleway</vt:lpstr>
      <vt:lpstr>Times New Roman</vt:lpstr>
      <vt:lpstr>Wingdings</vt:lpstr>
      <vt:lpstr>School Days</vt:lpstr>
      <vt:lpstr>Thermal Pulse</vt:lpstr>
      <vt:lpstr>Problem Statement:</vt:lpstr>
      <vt:lpstr>Problem Evidence/Research:</vt:lpstr>
      <vt:lpstr>SDG Alignment:</vt:lpstr>
      <vt:lpstr>Existing Solution:</vt:lpstr>
      <vt:lpstr>Proposed Solution:</vt:lpstr>
      <vt:lpstr>System workflow/Architecture:</vt:lpstr>
      <vt:lpstr>💻 Technology Stack:</vt:lpstr>
      <vt:lpstr>Prototype/Working demo:</vt:lpstr>
      <vt:lpstr>Innovation/USP:</vt:lpstr>
      <vt:lpstr>Impact:</vt:lpstr>
      <vt:lpstr>Feasability&amp;Scalability:</vt:lpstr>
      <vt:lpstr>Future Scope &amp;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Pulse</dc:title>
  <dc:creator>MS</dc:creator>
  <cp:lastModifiedBy>TEJANI CHETTY</cp:lastModifiedBy>
  <cp:revision>2</cp:revision>
  <dcterms:created xsi:type="dcterms:W3CDTF">2026-10-09T05:39:05Z</dcterms:created>
  <dcterms:modified xsi:type="dcterms:W3CDTF">2026-10-09T06:38:08Z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7BE431644D7D4F84899B659041FC9DF0_11</vt:lpwstr>
  </property>
</Properties>
</file>